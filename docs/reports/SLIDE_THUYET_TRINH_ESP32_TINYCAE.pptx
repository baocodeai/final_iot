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0F172A"/>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8899855" cy="3931920"/>
          </a:xfrm>
          <a:prstGeom prst="rect">
            <a:avLst/>
          </a:prstGeom>
          <a:noFill/>
        </p:spPr>
        <p:txBody>
          <a:bodyPr wrap="square">
            <a:spAutoFit/>
          </a:bodyPr>
          <a:lstStyle/>
          <a:p>
            <a:pPr>
              <a:defRPr sz="1200" b="1">
                <a:solidFill>
                  <a:srgbClr val="38BDF8"/>
                </a:solidFill>
                <a:latin typeface="Segoe UI"/>
              </a:defRPr>
            </a:pPr>
            <a:r>
              <a:t>TRƯỜNG ĐẠI HỌC CÔNG NGHỆ KỸ THUẬT TP. HỒ CHÍ MINH</a:t>
            </a:r>
            <a:br/>
            <a:r>
              <a:t>KHOA CÔNG NGHỆ THÔNG TIN</a:t>
            </a:r>
          </a:p>
          <a:p>
            <a:br/>
            <a:pPr>
              <a:defRPr sz="1400" b="1">
                <a:solidFill>
                  <a:srgbClr val="FBBF24"/>
                </a:solidFill>
                <a:latin typeface="Segoe UI"/>
              </a:defRPr>
            </a:pPr>
            <a:r>
              <a:t>BÁO CÁO NGHIỆM THU ĐỀ TÀI TIỂU LUẬN</a:t>
            </a:r>
          </a:p>
          <a:p>
            <a:pPr>
              <a:defRPr sz="2200" b="1">
                <a:solidFill>
                  <a:srgbClr val="F8FAFC"/>
                </a:solidFill>
                <a:latin typeface="Segoe UI"/>
              </a:defRPr>
            </a:pPr>
            <a:r>
              <a:t>TRIỂN KHAI VÀ ĐÁNH GIÁ BỘ MÃ HÓA TINYCAE LƯỢNG TỬ HÓA INT8 CHO NÉN ẢNH TRÊN ESP32</a:t>
            </a:r>
          </a:p>
          <a:p>
            <a:pPr>
              <a:defRPr sz="1500" i="1">
                <a:solidFill>
                  <a:srgbClr val="60A5FA"/>
                </a:solidFill>
                <a:latin typeface="Segoe UI"/>
              </a:defRPr>
            </a:pPr>
            <a:r>
              <a:t>Đối chứng với bộ mã hóa JPEG phần mềm trên cùng thiết bị phần cứng</a:t>
            </a:r>
          </a:p>
          <a:p>
            <a:br/>
            <a:pPr>
              <a:defRPr sz="1200">
                <a:solidFill>
                  <a:srgbClr val="94A3B8"/>
                </a:solidFill>
                <a:latin typeface="Segoe UI"/>
              </a:defRPr>
            </a:pPr>
            <a:r>
              <a:t>• Sinh viên thực hiện: NGUYỄN VŨ BẢO — MSSV: 23110079 (Lớp: 261AIOT331185_01CLC)</a:t>
            </a:r>
            <a:br/>
            <a:r>
              <a:t>• Giảng viên hướng dẫn: Thầy HỒ NHỰT MINH</a:t>
            </a:r>
            <a:br/>
            <a:r>
              <a:t>• Thời gian thực nghiệm: Tháng 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 Đặt Vấn Đề &amp; Tính Cấp Thiết Trong Edge IoT</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600">
                <a:solidFill>
                  <a:srgbClr val="38BDF8"/>
                </a:solidFill>
              </a:defRPr>
            </a:pPr>
            <a:r>
              <a:t>Thách Thức Nén Ảnh Trên Thiết Bị Biên IoT</a:t>
            </a:r>
          </a:p>
          <a:p>
            <a:br/>
            <a:pPr>
              <a:defRPr sz="1200">
                <a:solidFill>
                  <a:srgbClr val="F8FAFC"/>
                </a:solidFill>
              </a:defRPr>
            </a:pPr>
            <a:r>
              <a:t>• Băng thông hẹp &amp; Năng lượng pin: Các mạng LPWAN (LoRaWAN, NB-IoT) và BLE có tốc độ truyền thấp. Giảm kích thước gói truyền là ưu tiên số 1 để tiết kiệm pin.</a:t>
            </a:r>
          </a:p>
          <a:p>
            <a:br/>
            <a:pPr>
              <a:defRPr sz="1200">
                <a:solidFill>
                  <a:srgbClr val="F8FAFC"/>
                </a:solidFill>
              </a:defRPr>
            </a:pPr>
            <a:r>
              <a:t>• Hạn chế tài nguyên vi điều khiển: ESP32 có bộ nhớ SRAM hạn hẹp (&lt; 328 KB free heap), không thể chạy các mô hình AI thị giác cồng kềnh.</a:t>
            </a:r>
          </a:p>
          <a:p>
            <a:br/>
            <a:pPr>
              <a:defRPr sz="1200">
                <a:solidFill>
                  <a:srgbClr val="F8FAFC"/>
                </a:solidFill>
              </a:defRPr>
            </a:pPr>
            <a:r>
              <a:t>• Hiện tượng Blocking Artifact của JPEG: Ở bitrate thấp và ảnh độ phân giải nhỏ, JPEG phân khối 8x8 tạo ra các vết răng cưa lưới gây biến dạng hình ảnh nghiêm trọng.</a:t>
            </a:r>
          </a:p>
        </p:txBody>
      </p:sp>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b="1" sz="1600">
                <a:solidFill>
                  <a:srgbClr val="34D399"/>
                </a:solidFill>
              </a:defRPr>
            </a:pPr>
            <a:r>
              <a:t>Mục Tiêu &amp; Đóng Góp Nghiên Cứu</a:t>
            </a:r>
          </a:p>
          <a:p>
            <a:br/>
            <a:pPr>
              <a:defRPr sz="1200">
                <a:solidFill>
                  <a:srgbClr val="F8FAFC"/>
                </a:solidFill>
              </a:defRPr>
            </a:pPr>
            <a:r>
              <a:t>• Mã hóa Deep Learning siêu nhẹ (TinyCAE): Xây dựng Encoder tích chập chỉ 2.800 tham số, lượng tử hóa INT8 chạy trực tiếp trên ESP32 thông qua TFLite Micro.</a:t>
            </a:r>
          </a:p>
          <a:p>
            <a:br/>
            <a:pPr>
              <a:defRPr sz="1200">
                <a:solidFill>
                  <a:srgbClr val="F8FAFC"/>
                </a:solidFill>
              </a:defRPr>
            </a:pPr>
            <a:r>
              <a:t>• Đối chứng công bằng với JPEG phần mềm: Triển khai JPEG phần mềm (esp_new_jpeg) trên chính con chip ESP32 đó với cùng ranh giới đo đạc.</a:t>
            </a:r>
          </a:p>
          <a:p>
            <a:br/>
            <a:pPr>
              <a:defRPr sz="1200">
                <a:solidFill>
                  <a:srgbClr val="F8FAFC"/>
                </a:solidFill>
              </a:defRPr>
            </a:pPr>
            <a:r>
              <a:t>• Khóa siêu tham số độc lập: Khóa chất lượng JPEG Q=70 trên tập validation bitrate riêng biệt (500 ảnh) để so sánh khách quan với TinyCAE (8.00 bpp).</a:t>
            </a:r>
          </a:p>
          <a:p>
            <a:br/>
            <a:pPr>
              <a:defRPr sz="1200">
                <a:solidFill>
                  <a:srgbClr val="F8FAFC"/>
                </a:solidFill>
              </a:defRPr>
            </a:pPr>
            <a:r>
              <a:t>• Xác thực thực nghiệm nghiêm ngặt: Đo đạc 5 warmup + 30 repeat, kiểm tra sai số số học, đo bộ nhớ heap/PSRAM và đánh giá toàn diện Trade-off.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2. Kiến Trúc Hệ Thống Bất Đối Xứng (Asymmetric Framework)</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500">
                <a:solidFill>
                  <a:srgbClr val="60A5FA"/>
                </a:solidFill>
              </a:defRPr>
            </a:pPr>
            <a:r>
              <a:t>Pipeline 1: TinyCAE INT8 (Edge-to-Cloud)</a:t>
            </a:r>
          </a:p>
          <a:p>
            <a:br/>
            <a:pPr>
              <a:defRPr sz="1200">
                <a:solidFill>
                  <a:srgbClr val="F8FAFC"/>
                </a:solidFill>
              </a:defRPr>
            </a:pPr>
            <a:r>
              <a:t>1. Host PC nạp ảnh RGB888 (32 × 32 × 3 = 3.072 Bytes).</a:t>
            </a:r>
          </a:p>
          <a:p>
            <a:br/>
            <a:pPr>
              <a:defRPr sz="1200">
                <a:solidFill>
                  <a:srgbClr val="F8FAFC"/>
                </a:solidFill>
              </a:defRPr>
            </a:pPr>
            <a:r>
              <a:t>2. Truyền qua UART COM5 xuống ESP32 kèm mã băm CRC-32.</a:t>
            </a:r>
          </a:p>
          <a:p>
            <a:br/>
            <a:pPr>
              <a:defRPr sz="1200">
                <a:solidFill>
                  <a:srgbClr val="F8FAFC"/>
                </a:solidFill>
              </a:defRPr>
            </a:pPr>
            <a:r>
              <a:t>3. ESP32 thực thi TinyCAE Encoder INT8 (Tensor Arena 128 KB PSRAM).</a:t>
            </a:r>
          </a:p>
          <a:p>
            <a:br/>
            <a:pPr>
              <a:defRPr sz="1200">
                <a:solidFill>
                  <a:srgbClr val="F8FAFC"/>
                </a:solidFill>
              </a:defRPr>
            </a:pPr>
            <a:r>
              <a:t>4. Sinh ra Latent vector cố định: 8 × 8 × 16 = 1.024 Bytes INT8 (8.00 bpp).</a:t>
            </a:r>
          </a:p>
          <a:p>
            <a:br/>
            <a:pPr>
              <a:defRPr sz="1200">
                <a:solidFill>
                  <a:srgbClr val="F8FAFC"/>
                </a:solidFill>
              </a:defRPr>
            </a:pPr>
            <a:r>
              <a:t>5. ESP32 gửi ngược Latent 1.024 Bytes về Host PC qua UART.</a:t>
            </a:r>
          </a:p>
          <a:p>
            <a:br/>
            <a:pPr>
              <a:defRPr sz="1200">
                <a:solidFill>
                  <a:srgbClr val="F8FAFC"/>
                </a:solidFill>
              </a:defRPr>
            </a:pPr>
            <a:r>
              <a:t>6. Host PC dùng Decoder FP32 (Keras) giải mã ảnh tái tạo x̂.</a:t>
            </a:r>
          </a:p>
        </p:txBody>
      </p:sp>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b="1" sz="1500">
                <a:solidFill>
                  <a:srgbClr val="38BDF8"/>
                </a:solidFill>
              </a:defRPr>
            </a:pPr>
            <a:r>
              <a:t>Pipeline 2: JPEG Software (Baseline Đối Chứng)</a:t>
            </a:r>
          </a:p>
          <a:p>
            <a:br/>
            <a:pPr>
              <a:defRPr sz="1200">
                <a:solidFill>
                  <a:srgbClr val="F8FAFC"/>
                </a:solidFill>
              </a:defRPr>
            </a:pPr>
            <a:r>
              <a:t>1. Host PC gửi cùng ảnh 3.072 Bytes xuống cùng bo ESP32.</a:t>
            </a:r>
          </a:p>
          <a:p>
            <a:br/>
            <a:pPr>
              <a:defRPr sz="1200">
                <a:solidFill>
                  <a:srgbClr val="F8FAFC"/>
                </a:solidFill>
              </a:defRPr>
            </a:pPr>
            <a:r>
              <a:t>2. ESP32 dùng thư viện esp_new_jpeg v1.0.2 mã hóa DCT.</a:t>
            </a:r>
          </a:p>
          <a:p>
            <a:br/>
            <a:pPr>
              <a:defRPr sz="1200">
                <a:solidFill>
                  <a:srgbClr val="F8FAFC"/>
                </a:solidFill>
              </a:defRPr>
            </a:pPr>
            <a:r>
              <a:t>3. Mức chất lượng cố định Q = 70 (khóa từ tập validation).</a:t>
            </a:r>
          </a:p>
          <a:p>
            <a:br/>
            <a:pPr>
              <a:defRPr sz="1200">
                <a:solidFill>
                  <a:srgbClr val="F8FAFC"/>
                </a:solidFill>
              </a:defRPr>
            </a:pPr>
            <a:r>
              <a:t>4. Sinh ra dòng bitstream JPEG chuẩn (~968 Bytes trung bình).</a:t>
            </a:r>
          </a:p>
          <a:p>
            <a:br/>
            <a:pPr>
              <a:defRPr sz="1200">
                <a:solidFill>
                  <a:srgbClr val="F8FAFC"/>
                </a:solidFill>
              </a:defRPr>
            </a:pPr>
            <a:r>
              <a:t>5. ESP32 gửi dòng JPEG nhị phân về Host PC qua UART.</a:t>
            </a:r>
          </a:p>
          <a:p>
            <a:br/>
            <a:pPr>
              <a:defRPr sz="1200">
                <a:solidFill>
                  <a:srgbClr val="F8FAFC"/>
                </a:solidFill>
              </a:defRPr>
            </a:pPr>
            <a:r>
              <a:t>6. Host PC giải mã bằng PIL.Image, tính toán PSNR và SSIM.</a:t>
            </a:r>
          </a:p>
          <a:p>
            <a:br/>
            <a:pPr>
              <a:defRPr sz="1100" i="1">
                <a:solidFill>
                  <a:srgbClr val="FBBF24"/>
                </a:solidFill>
              </a:defRPr>
            </a:pPr>
            <a:r>
              <a:t>★ Ranh giới đo t_core: Chỉ đo thời gian thực thi mã hóa trên CPU ESP32 bằng esp_timer_get_time() (microsecond), loại trừ hoàn toàn độ trễ truyền UART.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3. Cấu Hình Phần Cứng Thực Nghiệm ESP32-CAM</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500">
                <a:solidFill>
                  <a:srgbClr val="34D399"/>
                </a:solidFill>
              </a:defRPr>
            </a:pPr>
            <a:r>
              <a:t>Thông Số Bo Mạch &amp; Vi Điều Khiển</a:t>
            </a:r>
          </a:p>
          <a:p>
            <a:pPr>
              <a:defRPr sz="1200">
                <a:solidFill>
                  <a:srgbClr val="F8FAFC"/>
                </a:solidFill>
              </a:defRPr>
            </a:pPr>
            <a:r>
              <a:t>• Bo phát triển: AI-Thinker ESP32-CAM (Module ESP32-S).</a:t>
            </a:r>
          </a:p>
          <a:p>
            <a:pPr>
              <a:defRPr sz="1200">
                <a:solidFill>
                  <a:srgbClr val="F8FAFC"/>
                </a:solidFill>
              </a:defRPr>
            </a:pPr>
            <a:r>
              <a:t>• CPU: Xtensa® Dual-core 32-bit LX6 @ 240 MHz.</a:t>
            </a:r>
          </a:p>
          <a:p>
            <a:pPr>
              <a:defRPr sz="1200">
                <a:solidFill>
                  <a:srgbClr val="F8FAFC"/>
                </a:solidFill>
              </a:defRPr>
            </a:pPr>
            <a:r>
              <a:t>• Flash ngoài: 4 MB SPI Flash (DIO Mode, 40 MHz).</a:t>
            </a:r>
          </a:p>
          <a:p>
            <a:pPr>
              <a:defRPr sz="1200">
                <a:solidFill>
                  <a:srgbClr val="F8FAFC"/>
                </a:solidFill>
              </a:defRPr>
            </a:pPr>
            <a:r>
              <a:t>• PSRAM ngoài: 8 MB vật lý (ESP-IDF ánh xạ 4 MB heap ảo).</a:t>
            </a:r>
          </a:p>
          <a:p>
            <a:pPr>
              <a:defRPr sz="1200">
                <a:solidFill>
                  <a:srgbClr val="F8FAFC"/>
                </a:solidFill>
              </a:defRPr>
            </a:pPr>
            <a:r>
              <a:t>• Bộ nhớ SRAM nội: 520 KB (Khả dụng tự do ~287 KB).</a:t>
            </a:r>
          </a:p>
          <a:p>
            <a:pPr>
              <a:defRPr sz="1200">
                <a:solidFill>
                  <a:srgbClr val="F8FAFC"/>
                </a:solidFill>
              </a:defRPr>
            </a:pPr>
            <a:r>
              <a:t>• Giao tiếp Host: FTDI FT232R USB-UART @ COM5, 115.200 baud.</a:t>
            </a:r>
          </a:p>
          <a:p>
            <a:pPr>
              <a:defRPr sz="1200">
                <a:solidFill>
                  <a:srgbClr val="F8FAFC"/>
                </a:solidFill>
              </a:defRPr>
            </a:pPr>
            <a:r>
              <a:t>• Phần mềm lõi: ESP-IDF v5.5.5, FreeRTOS kernel.</a:t>
            </a:r>
          </a:p>
          <a:p>
            <a:pPr>
              <a:defRPr sz="1200">
                <a:solidFill>
                  <a:srgbClr val="F8FAFC"/>
                </a:solidFill>
              </a:defRPr>
            </a:pPr>
            <a:r>
              <a:t>• Khung AI nhúng: esp-tflite-micro v1.4.x (tối ưu ESP-NN).</a:t>
            </a:r>
          </a:p>
        </p:txBody>
      </p:sp>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sp32_monitor_ready.png"/>
          <p:cNvPicPr>
            <a:picLocks noChangeAspect="1"/>
          </p:cNvPicPr>
          <p:nvPr/>
        </p:nvPicPr>
        <p:blipFill>
          <a:blip r:embed="rId2"/>
          <a:stretch>
            <a:fillRect/>
          </a:stretch>
        </p:blipFill>
        <p:spPr>
          <a:xfrm>
            <a:off x="6400800" y="1828800"/>
            <a:ext cx="4846320" cy="3343183"/>
          </a:xfrm>
          <a:prstGeom prst="rect">
            <a:avLst/>
          </a:prstGeom>
        </p:spPr>
      </p:pic>
      <p:sp>
        <p:nvSpPr>
          <p:cNvPr id="8" name="TextBox 7"/>
          <p:cNvSpPr txBox="1"/>
          <p:nvPr/>
        </p:nvSpPr>
        <p:spPr>
          <a:xfrm>
            <a:off x="6400800" y="5120640"/>
            <a:ext cx="4846320" cy="1005840"/>
          </a:xfrm>
          <a:prstGeom prst="rect">
            <a:avLst/>
          </a:prstGeom>
          <a:noFill/>
        </p:spPr>
        <p:txBody>
          <a:bodyPr wrap="square">
            <a:spAutoFit/>
          </a:bodyPr>
          <a:lstStyle/>
          <a:p>
            <a:pPr>
              <a:defRPr b="1" sz="1100">
                <a:solidFill>
                  <a:srgbClr val="38BDF8"/>
                </a:solidFill>
              </a:defRPr>
            </a:pPr>
            <a:r>
              <a:t>Minh chứng thực nghiệm khởi động ESP32:</a:t>
            </a:r>
          </a:p>
          <a:p>
            <a:pPr>
              <a:defRPr sz="1000">
                <a:solidFill>
                  <a:srgbClr val="94A3B8"/>
                </a:solidFill>
              </a:defRPr>
            </a:pPr>
            <a:r>
              <a:t>Log monitor xác nhận cấp phát 128 KiB Tensor Arena trên PSRAM, JPEG buffer 8 KiB, sẵn sàng xử lý lệnh PING, TINYCAE, JPEG.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4. Tập Dữ Liệu CIFAR-10 &amp; Phân Chia Phân Tầng (Stratified Split)</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38BDF8"/>
                </a:solidFill>
              </a:defRPr>
            </a:pPr>
            <a:r>
              <a:t>Chiến Lược Phân Chia Cố Định Seed 2026 Đảm Bảo Tính Tái Lập Tuyệt Đối</a:t>
            </a:r>
          </a:p>
          <a:p>
            <a:pPr>
              <a:defRPr sz="1200">
                <a:solidFill>
                  <a:srgbClr val="F8FAFC"/>
                </a:solidFill>
              </a:defRPr>
            </a:pPr>
            <a:r>
              <a:t>Để khắc phục triệt để hiện tượng rò rỉ dữ liệu (data leakage) và đảm bảo tính đại diện đồng đều trên 10 lớp đối tượng, toàn bộ 60.000 ảnh CIFAR-10 được phân chia phân tầng:</a:t>
            </a:r>
          </a:p>
        </p:txBody>
      </p:sp>
      <p:graphicFrame>
        <p:nvGraphicFramePr>
          <p:cNvPr id="6" name="Table 5"/>
          <p:cNvGraphicFramePr>
            <a:graphicFrameLocks noGrp="1"/>
          </p:cNvGraphicFramePr>
          <p:nvPr/>
        </p:nvGraphicFramePr>
        <p:xfrm>
          <a:off x="1005840" y="2651760"/>
          <a:ext cx="10149840" cy="3108960"/>
        </p:xfrm>
        <a:graphic>
          <a:graphicData uri="http://schemas.openxmlformats.org/drawingml/2006/table">
            <a:tbl>
              <a:tblPr firstRow="1" bandRow="1">
                <a:tableStyleId>{5C22544A-7EE6-4342-B048-85BDC9FD1C3A}</a:tableStyleId>
              </a:tblPr>
              <a:tblGrid>
                <a:gridCol w="2194560"/>
                <a:gridCol w="1645920"/>
                <a:gridCol w="2286000"/>
                <a:gridCol w="4023360"/>
              </a:tblGrid>
              <a:tr h="444137">
                <a:tc>
                  <a:txBody>
                    <a:bodyPr/>
                    <a:lstStyle/>
                    <a:p>
                      <a:pPr>
                        <a:defRPr b="1" sz="1100">
                          <a:solidFill>
                            <a:srgbClr val="60A5FA"/>
                          </a:solidFill>
                        </a:defRPr>
                      </a:pPr>
                      <a:r>
                        <a:t>Tập Dữ Liệu</a:t>
                      </a:r>
                    </a:p>
                  </a:txBody>
                  <a:tcPr>
                    <a:solidFill>
                      <a:srgbClr val="1E293B"/>
                    </a:solidFill>
                  </a:tcPr>
                </a:tc>
                <a:tc>
                  <a:txBody>
                    <a:bodyPr/>
                    <a:lstStyle/>
                    <a:p>
                      <a:pPr>
                        <a:defRPr b="1" sz="1100">
                          <a:solidFill>
                            <a:srgbClr val="60A5FA"/>
                          </a:solidFill>
                        </a:defRPr>
                      </a:pPr>
                      <a:r>
                        <a:t>Số Lượng Ảnh</a:t>
                      </a:r>
                    </a:p>
                  </a:txBody>
                  <a:tcPr>
                    <a:solidFill>
                      <a:srgbClr val="1E293B"/>
                    </a:solidFill>
                  </a:tcPr>
                </a:tc>
                <a:tc>
                  <a:txBody>
                    <a:bodyPr/>
                    <a:lstStyle/>
                    <a:p>
                      <a:pPr>
                        <a:defRPr b="1" sz="1100">
                          <a:solidFill>
                            <a:srgbClr val="60A5FA"/>
                          </a:solidFill>
                        </a:defRPr>
                      </a:pPr>
                      <a:r>
                        <a:t>Phân Bố Mỗi Lớp</a:t>
                      </a:r>
                    </a:p>
                  </a:txBody>
                  <a:tcPr>
                    <a:solidFill>
                      <a:srgbClr val="1E293B"/>
                    </a:solidFill>
                  </a:tcPr>
                </a:tc>
                <a:tc>
                  <a:txBody>
                    <a:bodyPr/>
                    <a:lstStyle/>
                    <a:p>
                      <a:pPr>
                        <a:defRPr b="1" sz="1100">
                          <a:solidFill>
                            <a:srgbClr val="60A5FA"/>
                          </a:solidFill>
                        </a:defRPr>
                      </a:pPr>
                      <a:r>
                        <a:t>Mục Đích Sử Dụng Trong Đề Tài</a:t>
                      </a:r>
                    </a:p>
                  </a:txBody>
                  <a:tcPr>
                    <a:solidFill>
                      <a:srgbClr val="1E293B"/>
                    </a:solidFill>
                  </a:tcPr>
                </a:tc>
              </a:tr>
              <a:tr h="444137">
                <a:tc>
                  <a:txBody>
                    <a:bodyPr/>
                    <a:lstStyle/>
                    <a:p>
                      <a:pPr>
                        <a:defRPr sz="1050">
                          <a:solidFill>
                            <a:srgbClr val="F8FAFC"/>
                          </a:solidFill>
                        </a:defRPr>
                      </a:pPr>
                      <a:r>
                        <a:t>Train (Huấn luyện)</a:t>
                      </a:r>
                    </a:p>
                  </a:txBody>
                  <a:tcPr>
                    <a:solidFill>
                      <a:srgbClr val="141C30"/>
                    </a:solidFill>
                  </a:tcPr>
                </a:tc>
                <a:tc>
                  <a:txBody>
                    <a:bodyPr/>
                    <a:lstStyle/>
                    <a:p>
                      <a:pPr>
                        <a:defRPr sz="1050">
                          <a:solidFill>
                            <a:srgbClr val="F8FAFC"/>
                          </a:solidFill>
                        </a:defRPr>
                      </a:pPr>
                      <a:r>
                        <a:t>45.000 ảnh</a:t>
                      </a:r>
                    </a:p>
                  </a:txBody>
                  <a:tcPr>
                    <a:solidFill>
                      <a:srgbClr val="141C30"/>
                    </a:solidFill>
                  </a:tcPr>
                </a:tc>
                <a:tc>
                  <a:txBody>
                    <a:bodyPr/>
                    <a:lstStyle/>
                    <a:p>
                      <a:pPr>
                        <a:defRPr sz="1050">
                          <a:solidFill>
                            <a:srgbClr val="F8FAFC"/>
                          </a:solidFill>
                        </a:defRPr>
                      </a:pPr>
                      <a:r>
                        <a:t>4.500 ảnh / lớp (10 lớp)</a:t>
                      </a:r>
                    </a:p>
                  </a:txBody>
                  <a:tcPr>
                    <a:solidFill>
                      <a:srgbClr val="141C30"/>
                    </a:solidFill>
                  </a:tcPr>
                </a:tc>
                <a:tc>
                  <a:txBody>
                    <a:bodyPr/>
                    <a:lstStyle/>
                    <a:p>
                      <a:pPr>
                        <a:defRPr sz="1050">
                          <a:solidFill>
                            <a:srgbClr val="F8FAFC"/>
                          </a:solidFill>
                        </a:defRPr>
                      </a:pPr>
                      <a:r>
                        <a:t>Huấn luyện đồng thời Encoder + Decoder FP32</a:t>
                      </a:r>
                    </a:p>
                  </a:txBody>
                  <a:tcPr>
                    <a:solidFill>
                      <a:srgbClr val="141C30"/>
                    </a:solidFill>
                  </a:tcPr>
                </a:tc>
              </a:tr>
              <a:tr h="444137">
                <a:tc>
                  <a:txBody>
                    <a:bodyPr/>
                    <a:lstStyle/>
                    <a:p>
                      <a:pPr>
                        <a:defRPr sz="1050">
                          <a:solidFill>
                            <a:srgbClr val="F8FAFC"/>
                          </a:solidFill>
                        </a:defRPr>
                      </a:pPr>
                      <a:r>
                        <a:t>Validation</a:t>
                      </a:r>
                    </a:p>
                  </a:txBody>
                  <a:tcPr>
                    <a:solidFill>
                      <a:srgbClr val="1A233A"/>
                    </a:solidFill>
                  </a:tcPr>
                </a:tc>
                <a:tc>
                  <a:txBody>
                    <a:bodyPr/>
                    <a:lstStyle/>
                    <a:p>
                      <a:pPr>
                        <a:defRPr sz="1050">
                          <a:solidFill>
                            <a:srgbClr val="F8FAFC"/>
                          </a:solidFill>
                        </a:defRPr>
                      </a:pPr>
                      <a:r>
                        <a:t>5.000 ảnh</a:t>
                      </a:r>
                    </a:p>
                  </a:txBody>
                  <a:tcPr>
                    <a:solidFill>
                      <a:srgbClr val="1A233A"/>
                    </a:solidFill>
                  </a:tcPr>
                </a:tc>
                <a:tc>
                  <a:txBody>
                    <a:bodyPr/>
                    <a:lstStyle/>
                    <a:p>
                      <a:pPr>
                        <a:defRPr sz="1050">
                          <a:solidFill>
                            <a:srgbClr val="F8FAFC"/>
                          </a:solidFill>
                        </a:defRPr>
                      </a:pPr>
                      <a:r>
                        <a:t>500 ảnh / lớp</a:t>
                      </a:r>
                    </a:p>
                  </a:txBody>
                  <a:tcPr>
                    <a:solidFill>
                      <a:srgbClr val="1A233A"/>
                    </a:solidFill>
                  </a:tcPr>
                </a:tc>
                <a:tc>
                  <a:txBody>
                    <a:bodyPr/>
                    <a:lstStyle/>
                    <a:p>
                      <a:pPr>
                        <a:defRPr sz="1050">
                          <a:solidFill>
                            <a:srgbClr val="F8FAFC"/>
                          </a:solidFill>
                        </a:defRPr>
                      </a:pPr>
                      <a:r>
                        <a:t>Đánh giá loss, kích hoạt Early Stopping (patience=10)</a:t>
                      </a:r>
                    </a:p>
                  </a:txBody>
                  <a:tcPr>
                    <a:solidFill>
                      <a:srgbClr val="1A233A"/>
                    </a:solidFill>
                  </a:tcPr>
                </a:tc>
              </a:tr>
              <a:tr h="444137">
                <a:tc>
                  <a:txBody>
                    <a:bodyPr/>
                    <a:lstStyle/>
                    <a:p>
                      <a:pPr>
                        <a:defRPr sz="1050">
                          <a:solidFill>
                            <a:srgbClr val="F8FAFC"/>
                          </a:solidFill>
                        </a:defRPr>
                      </a:pPr>
                      <a:r>
                        <a:t>Calibration (PTQ)</a:t>
                      </a:r>
                    </a:p>
                  </a:txBody>
                  <a:tcPr>
                    <a:solidFill>
                      <a:srgbClr val="141C30"/>
                    </a:solidFill>
                  </a:tcPr>
                </a:tc>
                <a:tc>
                  <a:txBody>
                    <a:bodyPr/>
                    <a:lstStyle/>
                    <a:p>
                      <a:pPr>
                        <a:defRPr sz="1050">
                          <a:solidFill>
                            <a:srgbClr val="F8FAFC"/>
                          </a:solidFill>
                        </a:defRPr>
                      </a:pPr>
                      <a:r>
                        <a:t>500 ảnh</a:t>
                      </a:r>
                    </a:p>
                  </a:txBody>
                  <a:tcPr>
                    <a:solidFill>
                      <a:srgbClr val="141C30"/>
                    </a:solidFill>
                  </a:tcPr>
                </a:tc>
                <a:tc>
                  <a:txBody>
                    <a:bodyPr/>
                    <a:lstStyle/>
                    <a:p>
                      <a:pPr>
                        <a:defRPr sz="1050">
                          <a:solidFill>
                            <a:srgbClr val="F8FAFC"/>
                          </a:solidFill>
                        </a:defRPr>
                      </a:pPr>
                      <a:r>
                        <a:t>50 ảnh / lớp</a:t>
                      </a:r>
                    </a:p>
                  </a:txBody>
                  <a:tcPr>
                    <a:solidFill>
                      <a:srgbClr val="141C30"/>
                    </a:solidFill>
                  </a:tcPr>
                </a:tc>
                <a:tc>
                  <a:txBody>
                    <a:bodyPr/>
                    <a:lstStyle/>
                    <a:p>
                      <a:pPr>
                        <a:defRPr sz="1050">
                          <a:solidFill>
                            <a:srgbClr val="F8FAFC"/>
                          </a:solidFill>
                        </a:defRPr>
                      </a:pPr>
                      <a:r>
                        <a:t>Thu thập dải động activation phục vụ lượng tử hóa INT8</a:t>
                      </a:r>
                    </a:p>
                  </a:txBody>
                  <a:tcPr>
                    <a:solidFill>
                      <a:srgbClr val="141C30"/>
                    </a:solidFill>
                  </a:tcPr>
                </a:tc>
              </a:tr>
              <a:tr h="444137">
                <a:tc>
                  <a:txBody>
                    <a:bodyPr/>
                    <a:lstStyle/>
                    <a:p>
                      <a:pPr>
                        <a:defRPr sz="1050">
                          <a:solidFill>
                            <a:srgbClr val="F8FAFC"/>
                          </a:solidFill>
                        </a:defRPr>
                      </a:pPr>
                      <a:r>
                        <a:t>Validation Bitrate</a:t>
                      </a:r>
                    </a:p>
                  </a:txBody>
                  <a:tcPr>
                    <a:solidFill>
                      <a:srgbClr val="1A233A"/>
                    </a:solidFill>
                  </a:tcPr>
                </a:tc>
                <a:tc>
                  <a:txBody>
                    <a:bodyPr/>
                    <a:lstStyle/>
                    <a:p>
                      <a:pPr>
                        <a:defRPr sz="1050">
                          <a:solidFill>
                            <a:srgbClr val="F8FAFC"/>
                          </a:solidFill>
                        </a:defRPr>
                      </a:pPr>
                      <a:r>
                        <a:t>500 ảnh</a:t>
                      </a:r>
                    </a:p>
                  </a:txBody>
                  <a:tcPr>
                    <a:solidFill>
                      <a:srgbClr val="1A233A"/>
                    </a:solidFill>
                  </a:tcPr>
                </a:tc>
                <a:tc>
                  <a:txBody>
                    <a:bodyPr/>
                    <a:lstStyle/>
                    <a:p>
                      <a:pPr>
                        <a:defRPr sz="1050">
                          <a:solidFill>
                            <a:srgbClr val="F8FAFC"/>
                          </a:solidFill>
                        </a:defRPr>
                      </a:pPr>
                      <a:r>
                        <a:t>50 ảnh / lớp</a:t>
                      </a:r>
                    </a:p>
                  </a:txBody>
                  <a:tcPr>
                    <a:solidFill>
                      <a:srgbClr val="1A233A"/>
                    </a:solidFill>
                  </a:tcPr>
                </a:tc>
                <a:tc>
                  <a:txBody>
                    <a:bodyPr/>
                    <a:lstStyle/>
                    <a:p>
                      <a:pPr>
                        <a:defRPr sz="1050">
                          <a:solidFill>
                            <a:srgbClr val="F8FAFC"/>
                          </a:solidFill>
                        </a:defRPr>
                      </a:pPr>
                      <a:r>
                        <a:t>Quét sweep Q30-Q90 để khóa siêu tham số JPEG</a:t>
                      </a:r>
                    </a:p>
                  </a:txBody>
                  <a:tcPr>
                    <a:solidFill>
                      <a:srgbClr val="1A233A"/>
                    </a:solidFill>
                  </a:tcPr>
                </a:tc>
              </a:tr>
              <a:tr h="444137">
                <a:tc>
                  <a:txBody>
                    <a:bodyPr/>
                    <a:lstStyle/>
                    <a:p>
                      <a:pPr>
                        <a:defRPr sz="1050">
                          <a:solidFill>
                            <a:srgbClr val="F8FAFC"/>
                          </a:solidFill>
                        </a:defRPr>
                      </a:pPr>
                      <a:r>
                        <a:t>Test (Đánh giá PC)</a:t>
                      </a:r>
                    </a:p>
                  </a:txBody>
                  <a:tcPr>
                    <a:solidFill>
                      <a:srgbClr val="141C30"/>
                    </a:solidFill>
                  </a:tcPr>
                </a:tc>
                <a:tc>
                  <a:txBody>
                    <a:bodyPr/>
                    <a:lstStyle/>
                    <a:p>
                      <a:pPr>
                        <a:defRPr sz="1050">
                          <a:solidFill>
                            <a:srgbClr val="F8FAFC"/>
                          </a:solidFill>
                        </a:defRPr>
                      </a:pPr>
                      <a:r>
                        <a:t>10.000 ảnh</a:t>
                      </a:r>
                    </a:p>
                  </a:txBody>
                  <a:tcPr>
                    <a:solidFill>
                      <a:srgbClr val="141C30"/>
                    </a:solidFill>
                  </a:tcPr>
                </a:tc>
                <a:tc>
                  <a:txBody>
                    <a:bodyPr/>
                    <a:lstStyle/>
                    <a:p>
                      <a:pPr>
                        <a:defRPr sz="1050">
                          <a:solidFill>
                            <a:srgbClr val="F8FAFC"/>
                          </a:solidFill>
                        </a:defRPr>
                      </a:pPr>
                      <a:r>
                        <a:t>1.000 ảnh / lớp</a:t>
                      </a:r>
                    </a:p>
                  </a:txBody>
                  <a:tcPr>
                    <a:solidFill>
                      <a:srgbClr val="141C30"/>
                    </a:solidFill>
                  </a:tcPr>
                </a:tc>
                <a:tc>
                  <a:txBody>
                    <a:bodyPr/>
                    <a:lstStyle/>
                    <a:p>
                      <a:pPr>
                        <a:defRPr sz="1050">
                          <a:solidFill>
                            <a:srgbClr val="F8FAFC"/>
                          </a:solidFill>
                        </a:defRPr>
                      </a:pPr>
                      <a:r>
                        <a:t>Đo suy hao lượng tử hóa giữa FP32 và INT8 trên PC</a:t>
                      </a:r>
                    </a:p>
                  </a:txBody>
                  <a:tcPr>
                    <a:solidFill>
                      <a:srgbClr val="141C30"/>
                    </a:solidFill>
                  </a:tcPr>
                </a:tc>
              </a:tr>
              <a:tr h="444138">
                <a:tc>
                  <a:txBody>
                    <a:bodyPr/>
                    <a:lstStyle/>
                    <a:p>
                      <a:pPr>
                        <a:defRPr sz="1050">
                          <a:solidFill>
                            <a:srgbClr val="F8FAFC"/>
                          </a:solidFill>
                        </a:defRPr>
                      </a:pPr>
                      <a:r>
                        <a:t>Hardware Test (ESP32)</a:t>
                      </a:r>
                    </a:p>
                  </a:txBody>
                  <a:tcPr>
                    <a:solidFill>
                      <a:srgbClr val="1A233A"/>
                    </a:solidFill>
                  </a:tcPr>
                </a:tc>
                <a:tc>
                  <a:txBody>
                    <a:bodyPr/>
                    <a:lstStyle/>
                    <a:p>
                      <a:pPr>
                        <a:defRPr sz="1050">
                          <a:solidFill>
                            <a:srgbClr val="F8FAFC"/>
                          </a:solidFill>
                        </a:defRPr>
                      </a:pPr>
                      <a:r>
                        <a:t>20 ảnh</a:t>
                      </a:r>
                    </a:p>
                  </a:txBody>
                  <a:tcPr>
                    <a:solidFill>
                      <a:srgbClr val="1A233A"/>
                    </a:solidFill>
                  </a:tcPr>
                </a:tc>
                <a:tc>
                  <a:txBody>
                    <a:bodyPr/>
                    <a:lstStyle/>
                    <a:p>
                      <a:pPr>
                        <a:defRPr sz="1050">
                          <a:solidFill>
                            <a:srgbClr val="F8FAFC"/>
                          </a:solidFill>
                        </a:defRPr>
                      </a:pPr>
                      <a:r>
                        <a:t>Đúng 2 ảnh / lớp (10 lớp)</a:t>
                      </a:r>
                    </a:p>
                  </a:txBody>
                  <a:tcPr>
                    <a:solidFill>
                      <a:srgbClr val="1A233A"/>
                    </a:solidFill>
                  </a:tcPr>
                </a:tc>
                <a:tc>
                  <a:txBody>
                    <a:bodyPr/>
                    <a:lstStyle/>
                    <a:p>
                      <a:pPr>
                        <a:defRPr sz="1050">
                          <a:solidFill>
                            <a:srgbClr val="F8FAFC"/>
                          </a:solidFill>
                        </a:defRPr>
                      </a:pPr>
                      <a:r>
                        <a:t>Thực nghiệm đo đạc trực tiếp trên bo mạch ESP32</a:t>
                      </a:r>
                    </a:p>
                  </a:txBody>
                  <a:tcPr>
                    <a:solidFill>
                      <a:srgbClr val="1A233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5. Mạng TinyCAE &amp; Kỹ Thuật Lượng Tử Hóa PTQ INT8</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500">
                <a:solidFill>
                  <a:srgbClr val="60A5FA"/>
                </a:solidFill>
              </a:defRPr>
            </a:pPr>
            <a:r>
              <a:t>Kiến Trúc Bộ Mã Hóa TinyCAE</a:t>
            </a:r>
          </a:p>
          <a:p>
            <a:pPr>
              <a:defRPr sz="1100">
                <a:solidFill>
                  <a:srgbClr val="F8FAFC"/>
                </a:solidFill>
              </a:defRPr>
            </a:pPr>
            <a:r>
              <a:t>• Thiết kế tối giản cho Edge: Encoder chỉ gồm 2 lớp Conv2D (stride=2) rút gọn kích thước từ 32x32 xuống 8x8.</a:t>
            </a:r>
          </a:p>
          <a:p>
            <a:pPr>
              <a:defRPr sz="1100">
                <a:solidFill>
                  <a:srgbClr val="F8FAFC"/>
                </a:solidFill>
              </a:defRPr>
            </a:pPr>
            <a:r>
              <a:t>• Lớp 1: Conv2D(32 filter, kernel 3x3, stride 2, padding same, ReLU) -&gt; 16x16x32.</a:t>
            </a:r>
          </a:p>
          <a:p>
            <a:pPr>
              <a:defRPr sz="1100">
                <a:solidFill>
                  <a:srgbClr val="F8FAFC"/>
                </a:solidFill>
              </a:defRPr>
            </a:pPr>
            <a:r>
              <a:t>• Lớp 2 (Bottleneck): Conv2D(16 filter, kernel 3x3, stride 2, padding same) -&gt; 8x8x16.</a:t>
            </a:r>
          </a:p>
          <a:p>
            <a:pPr>
              <a:defRPr sz="1100">
                <a:solidFill>
                  <a:srgbClr val="F8FAFC"/>
                </a:solidFill>
              </a:defRPr>
            </a:pPr>
            <a:r>
              <a:t>• Kích thước tham số cực nhỏ: Tổng cộng chỉ 2.800 trọng số (11,2 KB FP32, nén còn 9,56 KB INT8).</a:t>
            </a:r>
          </a:p>
          <a:p>
            <a:pPr>
              <a:defRPr sz="1100">
                <a:solidFill>
                  <a:srgbClr val="F8FAFC"/>
                </a:solidFill>
              </a:defRPr>
            </a:pPr>
            <a:r>
              <a:t>• Khối lượng tính toán nhẹ: Chỉ 337.920 phép tính MACs cho toàn bộ encoder.</a:t>
            </a:r>
          </a:p>
          <a:p>
            <a:pPr>
              <a:defRPr sz="1100">
                <a:solidFill>
                  <a:srgbClr val="F8FAFC"/>
                </a:solidFill>
              </a:defRPr>
            </a:pPr>
            <a:r>
              <a:t>• Kích thước Latent cố định: 8 × 8 × 16 = 1.024 bytes INT8 (8.00 bpp cố định tuyệt đối).</a:t>
            </a:r>
          </a:p>
        </p:txBody>
      </p:sp>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b="1" sz="1500">
                <a:solidFill>
                  <a:srgbClr val="FBBF24"/>
                </a:solidFill>
              </a:defRPr>
            </a:pPr>
            <a:r>
              <a:t>Lượng Tử Hóa Sau Huấn Luyện (PTQ INT8)</a:t>
            </a:r>
          </a:p>
          <a:p>
            <a:pPr>
              <a:defRPr sz="1100">
                <a:solidFill>
                  <a:srgbClr val="F8FAFC"/>
                </a:solidFill>
              </a:defRPr>
            </a:pPr>
            <a:r>
              <a:t>• Mục tiêu: Chuyển toàn bộ phép tính dấu phẩy động FP32 sang số nguyên có dấu 8-bit (int8) để tận dụng tập lệnh nhân cộng nguyên của ESP32.</a:t>
            </a:r>
          </a:p>
          <a:p>
            <a:pPr>
              <a:defRPr sz="1100">
                <a:solidFill>
                  <a:srgbClr val="F8FAFC"/>
                </a:solidFill>
              </a:defRPr>
            </a:pPr>
            <a:r>
              <a:t>• Tập hiệu chuẩn (Calibration): 500 ảnh phân tầng từ tập train, thu thập phân phối giá trị kích hoạt.</a:t>
            </a:r>
          </a:p>
          <a:p>
            <a:pPr>
              <a:defRPr sz="1100">
                <a:solidFill>
                  <a:srgbClr val="F8FAFC"/>
                </a:solidFill>
              </a:defRPr>
            </a:pPr>
            <a:r>
              <a:t>• Thông số lượng tử hóa đầu vào: Input scale = 0.00392157, zero-point = -128 (ánh xạ chuẩn hóa [0, 1] sang [-128, 127]).</a:t>
            </a:r>
          </a:p>
          <a:p>
            <a:pPr>
              <a:defRPr sz="1100">
                <a:solidFill>
                  <a:srgbClr val="F8FAFC"/>
                </a:solidFill>
              </a:defRPr>
            </a:pPr>
            <a:r>
              <a:t>• Thông số lượng tử hóa Latent: Output scale = 0.00477045, zero-point = -5.</a:t>
            </a:r>
          </a:p>
          <a:p>
            <a:pPr>
              <a:defRPr sz="1100">
                <a:solidFill>
                  <a:srgbClr val="F8FAFC"/>
                </a:solidFill>
              </a:defRPr>
            </a:pPr>
            <a:r>
              <a:t>• Kiểm tra sai số số học (Golden Test): Sai lệch tuyệt đối giữa ESP32 và TFLite máy tính tối đa đúng 1 LSB do làm tròn số học, không tràn số.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6. Phương Pháp Khóa Siêu Tham Số Đối Chứng JPEG Q70</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34D399"/>
                </a:solidFill>
              </a:defRPr>
            </a:pPr>
            <a:r>
              <a:t>Quy Trình Khóa Chất Lượng Trên Tập Validation Bitrate (500 Ảnh)</a:t>
            </a:r>
          </a:p>
          <a:p>
            <a:pPr>
              <a:defRPr sz="1200">
                <a:solidFill>
                  <a:srgbClr val="F8FAFC"/>
                </a:solidFill>
              </a:defRPr>
            </a:pPr>
            <a:r>
              <a:t>Để tránh việc chọn thông số thiên vị (cherry-picking) sau khi nhìn thấy kết quả test, đề tài tiến hành quét sweep 4 mức chất lượng JPEG trên 500 ảnh validation bitrate độc lập trước khi thử nghiệm phần cứng:</a:t>
            </a:r>
          </a:p>
          <a:p>
            <a:br/>
            <a:pPr>
              <a:defRPr sz="1100" b="1">
                <a:solidFill>
                  <a:srgbClr val="FBBF24"/>
                </a:solidFill>
              </a:defRPr>
            </a:pPr>
            <a:r>
              <a:t>=&gt; KẾT LUẬN: Mức Q = 70 được khóa cứng và ghi nhận vào tệp jpeg_locked_quality.json. Cả hai thuật toán bước vào vòng kiểm thử phần cứng với cùng ngân sách tốc độ bít (~7.5 - 8.0 bpp).</a:t>
            </a:r>
          </a:p>
        </p:txBody>
      </p:sp>
      <p:graphicFrame>
        <p:nvGraphicFramePr>
          <p:cNvPr id="6" name="Table 5"/>
          <p:cNvGraphicFramePr>
            <a:graphicFrameLocks noGrp="1"/>
          </p:cNvGraphicFramePr>
          <p:nvPr/>
        </p:nvGraphicFramePr>
        <p:xfrm>
          <a:off x="1005840" y="2651760"/>
          <a:ext cx="10149840" cy="237744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920240"/>
              </a:tblGrid>
              <a:tr h="475488">
                <a:tc>
                  <a:txBody>
                    <a:bodyPr/>
                    <a:lstStyle/>
                    <a:p>
                      <a:pPr>
                        <a:defRPr b="1" sz="1100">
                          <a:solidFill>
                            <a:srgbClr val="38BDF8"/>
                          </a:solidFill>
                        </a:defRPr>
                      </a:pPr>
                      <a:r>
                        <a:t>Mức Quality</a:t>
                      </a:r>
                    </a:p>
                  </a:txBody>
                  <a:tcPr>
                    <a:solidFill>
                      <a:srgbClr val="1E293B"/>
                    </a:solidFill>
                  </a:tcPr>
                </a:tc>
                <a:tc>
                  <a:txBody>
                    <a:bodyPr/>
                    <a:lstStyle/>
                    <a:p>
                      <a:pPr>
                        <a:defRPr b="1" sz="1100">
                          <a:solidFill>
                            <a:srgbClr val="38BDF8"/>
                          </a:solidFill>
                        </a:defRPr>
                      </a:pPr>
                      <a:r>
                        <a:t>Dung Lượng (B)</a:t>
                      </a:r>
                    </a:p>
                  </a:txBody>
                  <a:tcPr>
                    <a:solidFill>
                      <a:srgbClr val="1E293B"/>
                    </a:solidFill>
                  </a:tcPr>
                </a:tc>
                <a:tc>
                  <a:txBody>
                    <a:bodyPr/>
                    <a:lstStyle/>
                    <a:p>
                      <a:pPr>
                        <a:defRPr b="1" sz="1100">
                          <a:solidFill>
                            <a:srgbClr val="38BDF8"/>
                          </a:solidFill>
                        </a:defRPr>
                      </a:pPr>
                      <a:r>
                        <a:t>Tốc Độ Bít (bpp)</a:t>
                      </a:r>
                    </a:p>
                  </a:txBody>
                  <a:tcPr>
                    <a:solidFill>
                      <a:srgbClr val="1E293B"/>
                    </a:solidFill>
                  </a:tcPr>
                </a:tc>
                <a:tc>
                  <a:txBody>
                    <a:bodyPr/>
                    <a:lstStyle/>
                    <a:p>
                      <a:pPr>
                        <a:defRPr b="1" sz="1100">
                          <a:solidFill>
                            <a:srgbClr val="38BDF8"/>
                          </a:solidFill>
                        </a:defRPr>
                      </a:pPr>
                      <a:r>
                        <a:t>Tỉ Số Nén</a:t>
                      </a:r>
                    </a:p>
                  </a:txBody>
                  <a:tcPr>
                    <a:solidFill>
                      <a:srgbClr val="1E293B"/>
                    </a:solidFill>
                  </a:tcPr>
                </a:tc>
                <a:tc>
                  <a:txBody>
                    <a:bodyPr/>
                    <a:lstStyle/>
                    <a:p>
                      <a:pPr>
                        <a:defRPr b="1" sz="1100">
                          <a:solidFill>
                            <a:srgbClr val="38BDF8"/>
                          </a:solidFill>
                        </a:defRPr>
                      </a:pPr>
                      <a:r>
                        <a:t>PSNR (dB)</a:t>
                      </a:r>
                    </a:p>
                  </a:txBody>
                  <a:tcPr>
                    <a:solidFill>
                      <a:srgbClr val="1E293B"/>
                    </a:solidFill>
                  </a:tcPr>
                </a:tc>
                <a:tc>
                  <a:txBody>
                    <a:bodyPr/>
                    <a:lstStyle/>
                    <a:p>
                      <a:pPr>
                        <a:defRPr b="1" sz="1100">
                          <a:solidFill>
                            <a:srgbClr val="38BDF8"/>
                          </a:solidFill>
                        </a:defRPr>
                      </a:pPr>
                      <a:r>
                        <a:t>Đánh Giá Lựa Chọn</a:t>
                      </a:r>
                    </a:p>
                  </a:txBody>
                  <a:tcPr>
                    <a:solidFill>
                      <a:srgbClr val="1E293B"/>
                    </a:solidFill>
                  </a:tcPr>
                </a:tc>
              </a:tr>
              <a:tr h="475488">
                <a:tc>
                  <a:txBody>
                    <a:bodyPr/>
                    <a:lstStyle/>
                    <a:p>
                      <a:pPr>
                        <a:defRPr sz="1050" b="0">
                          <a:solidFill>
                            <a:srgbClr val="F8FAFC"/>
                          </a:solidFill>
                        </a:defRPr>
                      </a:pPr>
                      <a:r>
                        <a:t>JPEG Q30</a:t>
                      </a:r>
                    </a:p>
                  </a:txBody>
                  <a:tcPr>
                    <a:solidFill>
                      <a:srgbClr val="141C30"/>
                    </a:solidFill>
                  </a:tcPr>
                </a:tc>
                <a:tc>
                  <a:txBody>
                    <a:bodyPr/>
                    <a:lstStyle/>
                    <a:p>
                      <a:pPr>
                        <a:defRPr sz="1050" b="0">
                          <a:solidFill>
                            <a:srgbClr val="F8FAFC"/>
                          </a:solidFill>
                        </a:defRPr>
                      </a:pPr>
                      <a:r>
                        <a:t>597.10 B</a:t>
                      </a:r>
                    </a:p>
                  </a:txBody>
                  <a:tcPr>
                    <a:solidFill>
                      <a:srgbClr val="141C30"/>
                    </a:solidFill>
                  </a:tcPr>
                </a:tc>
                <a:tc>
                  <a:txBody>
                    <a:bodyPr/>
                    <a:lstStyle/>
                    <a:p>
                      <a:pPr>
                        <a:defRPr sz="1050" b="0">
                          <a:solidFill>
                            <a:srgbClr val="F8FAFC"/>
                          </a:solidFill>
                        </a:defRPr>
                      </a:pPr>
                      <a:r>
                        <a:t>4.66 bpp</a:t>
                      </a:r>
                    </a:p>
                  </a:txBody>
                  <a:tcPr>
                    <a:solidFill>
                      <a:srgbClr val="141C30"/>
                    </a:solidFill>
                  </a:tcPr>
                </a:tc>
                <a:tc>
                  <a:txBody>
                    <a:bodyPr/>
                    <a:lstStyle/>
                    <a:p>
                      <a:pPr>
                        <a:defRPr sz="1050" b="0">
                          <a:solidFill>
                            <a:srgbClr val="F8FAFC"/>
                          </a:solidFill>
                        </a:defRPr>
                      </a:pPr>
                      <a:r>
                        <a:t>5.15 : 1</a:t>
                      </a:r>
                    </a:p>
                  </a:txBody>
                  <a:tcPr>
                    <a:solidFill>
                      <a:srgbClr val="141C30"/>
                    </a:solidFill>
                  </a:tcPr>
                </a:tc>
                <a:tc>
                  <a:txBody>
                    <a:bodyPr/>
                    <a:lstStyle/>
                    <a:p>
                      <a:pPr>
                        <a:defRPr sz="1050" b="0">
                          <a:solidFill>
                            <a:srgbClr val="F8FAFC"/>
                          </a:solidFill>
                        </a:defRPr>
                      </a:pPr>
                      <a:r>
                        <a:t>27.53 dB</a:t>
                      </a:r>
                    </a:p>
                  </a:txBody>
                  <a:tcPr>
                    <a:solidFill>
                      <a:srgbClr val="141C30"/>
                    </a:solidFill>
                  </a:tcPr>
                </a:tc>
                <a:tc>
                  <a:txBody>
                    <a:bodyPr/>
                    <a:lstStyle/>
                    <a:p>
                      <a:pPr>
                        <a:defRPr sz="1050" b="0">
                          <a:solidFill>
                            <a:srgbClr val="F8FAFC"/>
                          </a:solidFill>
                        </a:defRPr>
                      </a:pPr>
                      <a:r>
                        <a:t>Bitrate quá thấp, méo khối nặng</a:t>
                      </a:r>
                    </a:p>
                  </a:txBody>
                  <a:tcPr>
                    <a:solidFill>
                      <a:srgbClr val="141C30"/>
                    </a:solidFill>
                  </a:tcPr>
                </a:tc>
              </a:tr>
              <a:tr h="475488">
                <a:tc>
                  <a:txBody>
                    <a:bodyPr/>
                    <a:lstStyle/>
                    <a:p>
                      <a:pPr>
                        <a:defRPr sz="1050" b="0">
                          <a:solidFill>
                            <a:srgbClr val="F8FAFC"/>
                          </a:solidFill>
                        </a:defRPr>
                      </a:pPr>
                      <a:r>
                        <a:t>JPEG Q50</a:t>
                      </a:r>
                    </a:p>
                  </a:txBody>
                  <a:tcPr>
                    <a:solidFill>
                      <a:srgbClr val="1A233A"/>
                    </a:solidFill>
                  </a:tcPr>
                </a:tc>
                <a:tc>
                  <a:txBody>
                    <a:bodyPr/>
                    <a:lstStyle/>
                    <a:p>
                      <a:pPr>
                        <a:defRPr sz="1050" b="0">
                          <a:solidFill>
                            <a:srgbClr val="F8FAFC"/>
                          </a:solidFill>
                        </a:defRPr>
                      </a:pPr>
                      <a:r>
                        <a:t>771.55 B</a:t>
                      </a:r>
                    </a:p>
                  </a:txBody>
                  <a:tcPr>
                    <a:solidFill>
                      <a:srgbClr val="1A233A"/>
                    </a:solidFill>
                  </a:tcPr>
                </a:tc>
                <a:tc>
                  <a:txBody>
                    <a:bodyPr/>
                    <a:lstStyle/>
                    <a:p>
                      <a:pPr>
                        <a:defRPr sz="1050" b="0">
                          <a:solidFill>
                            <a:srgbClr val="F8FAFC"/>
                          </a:solidFill>
                        </a:defRPr>
                      </a:pPr>
                      <a:r>
                        <a:t>6.03 bpp</a:t>
                      </a:r>
                    </a:p>
                  </a:txBody>
                  <a:tcPr>
                    <a:solidFill>
                      <a:srgbClr val="1A233A"/>
                    </a:solidFill>
                  </a:tcPr>
                </a:tc>
                <a:tc>
                  <a:txBody>
                    <a:bodyPr/>
                    <a:lstStyle/>
                    <a:p>
                      <a:pPr>
                        <a:defRPr sz="1050" b="0">
                          <a:solidFill>
                            <a:srgbClr val="F8FAFC"/>
                          </a:solidFill>
                        </a:defRPr>
                      </a:pPr>
                      <a:r>
                        <a:t>3.98 : 1</a:t>
                      </a:r>
                    </a:p>
                  </a:txBody>
                  <a:tcPr>
                    <a:solidFill>
                      <a:srgbClr val="1A233A"/>
                    </a:solidFill>
                  </a:tcPr>
                </a:tc>
                <a:tc>
                  <a:txBody>
                    <a:bodyPr/>
                    <a:lstStyle/>
                    <a:p>
                      <a:pPr>
                        <a:defRPr sz="1050" b="0">
                          <a:solidFill>
                            <a:srgbClr val="F8FAFC"/>
                          </a:solidFill>
                        </a:defRPr>
                      </a:pPr>
                      <a:r>
                        <a:t>29.50 dB</a:t>
                      </a:r>
                    </a:p>
                  </a:txBody>
                  <a:tcPr>
                    <a:solidFill>
                      <a:srgbClr val="1A233A"/>
                    </a:solidFill>
                  </a:tcPr>
                </a:tc>
                <a:tc>
                  <a:txBody>
                    <a:bodyPr/>
                    <a:lstStyle/>
                    <a:p>
                      <a:pPr>
                        <a:defRPr sz="1050" b="0">
                          <a:solidFill>
                            <a:srgbClr val="F8FAFC"/>
                          </a:solidFill>
                        </a:defRPr>
                      </a:pPr>
                      <a:r>
                        <a:t>Thấp hơn bitrate TinyCAE</a:t>
                      </a:r>
                    </a:p>
                  </a:txBody>
                  <a:tcPr>
                    <a:solidFill>
                      <a:srgbClr val="1A233A"/>
                    </a:solidFill>
                  </a:tcPr>
                </a:tc>
              </a:tr>
              <a:tr h="475488">
                <a:tc>
                  <a:txBody>
                    <a:bodyPr/>
                    <a:lstStyle/>
                    <a:p>
                      <a:pPr>
                        <a:defRPr sz="1050" b="1">
                          <a:solidFill>
                            <a:srgbClr val="34D399"/>
                          </a:solidFill>
                        </a:defRPr>
                      </a:pPr>
                      <a:r>
                        <a:t>★ JPEG Q70 (Khóa)</a:t>
                      </a:r>
                    </a:p>
                  </a:txBody>
                  <a:tcPr>
                    <a:solidFill>
                      <a:srgbClr val="1E3A3C"/>
                    </a:solidFill>
                  </a:tcPr>
                </a:tc>
                <a:tc>
                  <a:txBody>
                    <a:bodyPr/>
                    <a:lstStyle/>
                    <a:p>
                      <a:pPr>
                        <a:defRPr sz="1050" b="1">
                          <a:solidFill>
                            <a:srgbClr val="34D399"/>
                          </a:solidFill>
                        </a:defRPr>
                      </a:pPr>
                      <a:r>
                        <a:t>960.09 B</a:t>
                      </a:r>
                    </a:p>
                  </a:txBody>
                  <a:tcPr>
                    <a:solidFill>
                      <a:srgbClr val="1E3A3C"/>
                    </a:solidFill>
                  </a:tcPr>
                </a:tc>
                <a:tc>
                  <a:txBody>
                    <a:bodyPr/>
                    <a:lstStyle/>
                    <a:p>
                      <a:pPr>
                        <a:defRPr sz="1050" b="1">
                          <a:solidFill>
                            <a:srgbClr val="34D399"/>
                          </a:solidFill>
                        </a:defRPr>
                      </a:pPr>
                      <a:r>
                        <a:t>7.50 bpp</a:t>
                      </a:r>
                    </a:p>
                  </a:txBody>
                  <a:tcPr>
                    <a:solidFill>
                      <a:srgbClr val="1E3A3C"/>
                    </a:solidFill>
                  </a:tcPr>
                </a:tc>
                <a:tc>
                  <a:txBody>
                    <a:bodyPr/>
                    <a:lstStyle/>
                    <a:p>
                      <a:pPr>
                        <a:defRPr sz="1050" b="1">
                          <a:solidFill>
                            <a:srgbClr val="34D399"/>
                          </a:solidFill>
                        </a:defRPr>
                      </a:pPr>
                      <a:r>
                        <a:t>3.21 : 1</a:t>
                      </a:r>
                    </a:p>
                  </a:txBody>
                  <a:tcPr>
                    <a:solidFill>
                      <a:srgbClr val="1E3A3C"/>
                    </a:solidFill>
                  </a:tcPr>
                </a:tc>
                <a:tc>
                  <a:txBody>
                    <a:bodyPr/>
                    <a:lstStyle/>
                    <a:p>
                      <a:pPr>
                        <a:defRPr sz="1050" b="1">
                          <a:solidFill>
                            <a:srgbClr val="34D399"/>
                          </a:solidFill>
                        </a:defRPr>
                      </a:pPr>
                      <a:r>
                        <a:t>31.31 dB</a:t>
                      </a:r>
                    </a:p>
                  </a:txBody>
                  <a:tcPr>
                    <a:solidFill>
                      <a:srgbClr val="1E3A3C"/>
                    </a:solidFill>
                  </a:tcPr>
                </a:tc>
                <a:tc>
                  <a:txBody>
                    <a:bodyPr/>
                    <a:lstStyle/>
                    <a:p>
                      <a:pPr>
                        <a:defRPr sz="1050" b="1">
                          <a:solidFill>
                            <a:srgbClr val="34D399"/>
                          </a:solidFill>
                        </a:defRPr>
                      </a:pPr>
                      <a:r>
                        <a:t>GẦN NHẤT VỚI TINYCAE (8.00 bpp)</a:t>
                      </a:r>
                    </a:p>
                  </a:txBody>
                  <a:tcPr>
                    <a:solidFill>
                      <a:srgbClr val="1E3A3C"/>
                    </a:solidFill>
                  </a:tcPr>
                </a:tc>
              </a:tr>
              <a:tr h="475488">
                <a:tc>
                  <a:txBody>
                    <a:bodyPr/>
                    <a:lstStyle/>
                    <a:p>
                      <a:pPr>
                        <a:defRPr sz="1050" b="0">
                          <a:solidFill>
                            <a:srgbClr val="F8FAFC"/>
                          </a:solidFill>
                        </a:defRPr>
                      </a:pPr>
                      <a:r>
                        <a:t>JPEG Q90</a:t>
                      </a:r>
                    </a:p>
                  </a:txBody>
                  <a:tcPr>
                    <a:solidFill>
                      <a:srgbClr val="1A233A"/>
                    </a:solidFill>
                  </a:tcPr>
                </a:tc>
                <a:tc>
                  <a:txBody>
                    <a:bodyPr/>
                    <a:lstStyle/>
                    <a:p>
                      <a:pPr>
                        <a:defRPr sz="1050" b="0">
                          <a:solidFill>
                            <a:srgbClr val="F8FAFC"/>
                          </a:solidFill>
                        </a:defRPr>
                      </a:pPr>
                      <a:r>
                        <a:t>1545.92 B</a:t>
                      </a:r>
                    </a:p>
                  </a:txBody>
                  <a:tcPr>
                    <a:solidFill>
                      <a:srgbClr val="1A233A"/>
                    </a:solidFill>
                  </a:tcPr>
                </a:tc>
                <a:tc>
                  <a:txBody>
                    <a:bodyPr/>
                    <a:lstStyle/>
                    <a:p>
                      <a:pPr>
                        <a:defRPr sz="1050" b="0">
                          <a:solidFill>
                            <a:srgbClr val="F8FAFC"/>
                          </a:solidFill>
                        </a:defRPr>
                      </a:pPr>
                      <a:r>
                        <a:t>12.08 bpp</a:t>
                      </a:r>
                    </a:p>
                  </a:txBody>
                  <a:tcPr>
                    <a:solidFill>
                      <a:srgbClr val="1A233A"/>
                    </a:solidFill>
                  </a:tcPr>
                </a:tc>
                <a:tc>
                  <a:txBody>
                    <a:bodyPr/>
                    <a:lstStyle/>
                    <a:p>
                      <a:pPr>
                        <a:defRPr sz="1050" b="0">
                          <a:solidFill>
                            <a:srgbClr val="F8FAFC"/>
                          </a:solidFill>
                        </a:defRPr>
                      </a:pPr>
                      <a:r>
                        <a:t>1.99 : 1</a:t>
                      </a:r>
                    </a:p>
                  </a:txBody>
                  <a:tcPr>
                    <a:solidFill>
                      <a:srgbClr val="1A233A"/>
                    </a:solidFill>
                  </a:tcPr>
                </a:tc>
                <a:tc>
                  <a:txBody>
                    <a:bodyPr/>
                    <a:lstStyle/>
                    <a:p>
                      <a:pPr>
                        <a:defRPr sz="1050" b="0">
                          <a:solidFill>
                            <a:srgbClr val="F8FAFC"/>
                          </a:solidFill>
                        </a:defRPr>
                      </a:pPr>
                      <a:r>
                        <a:t>35.32 dB</a:t>
                      </a:r>
                    </a:p>
                  </a:txBody>
                  <a:tcPr>
                    <a:solidFill>
                      <a:srgbClr val="1A233A"/>
                    </a:solidFill>
                  </a:tcPr>
                </a:tc>
                <a:tc>
                  <a:txBody>
                    <a:bodyPr/>
                    <a:lstStyle/>
                    <a:p>
                      <a:pPr>
                        <a:defRPr sz="1050" b="0">
                          <a:solidFill>
                            <a:srgbClr val="F8FAFC"/>
                          </a:solidFill>
                        </a:defRPr>
                      </a:pPr>
                      <a:r>
                        <a:t>Dung lượng vượt quá xa (+51%)</a:t>
                      </a:r>
                    </a:p>
                  </a:txBody>
                  <a:tcPr>
                    <a:solidFill>
                      <a:srgbClr val="1A233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7. Kết Quả Thực Nghiệm Trên 20 Ảnh Phần Cứng ESP32</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38BDF8"/>
                </a:solidFill>
              </a:defRPr>
            </a:pPr>
            <a:r>
              <a:t>Bảng So Sánh Tổng Hợp Đa Chỉ Số (Rate - Distortion - Latency)</a:t>
            </a:r>
          </a:p>
          <a:p>
            <a:br/>
            <a:pPr>
              <a:defRPr sz="1300" b="1">
                <a:solidFill>
                  <a:srgbClr val="FBBF24"/>
                </a:solidFill>
              </a:defRPr>
            </a:pPr>
            <a:r>
              <a:t>Phân Tích Đánh Đổi Kỹ Thuật (Trade-off Analysis):</a:t>
            </a:r>
          </a:p>
          <a:p>
            <a:pPr>
              <a:defRPr sz="1100">
                <a:solidFill>
                  <a:srgbClr val="F8FAFC"/>
                </a:solidFill>
              </a:defRPr>
            </a:pPr>
            <a:r>
              <a:t>• 1. Chất lượng tái tạo: TinyCAE nhỉnh hơn JPEG Q70 (+0,14 dB PSNR và +0,0030 SSIM trung bình), đặc biệt vượt trội trên các ảnh có bề mặt mượt và viền cong.</a:t>
            </a:r>
          </a:p>
          <a:p>
            <a:pPr>
              <a:defRPr sz="1100">
                <a:solidFill>
                  <a:srgbClr val="F8FAFC"/>
                </a:solidFill>
              </a:defRPr>
            </a:pPr>
            <a:r>
              <a:t>• 2. Kích thước bitstream: TinyCAE tạo kích thước cố định tuyệt đối 1.024 Bytes (8.00 bpp), cực kỳ thuận lợi cho truyền thông IoT đóng gói MTU không phân mảnh; JPEG biến thiên từ 813 B đến 1.139 B phụ thuộc nội dung ảnh.</a:t>
            </a:r>
          </a:p>
          <a:p>
            <a:pPr>
              <a:defRPr sz="1100">
                <a:solidFill>
                  <a:srgbClr val="F8FAFC"/>
                </a:solidFill>
              </a:defRPr>
            </a:pPr>
            <a:r>
              <a:t>• 3. Tốc độ thực thi: JPEG có lợi thế áp đảo khi chỉ mất 2,43 ms, nhanh hơn TinyCAE (60,70 ms) tới 25 lần, rất phù hợp cho cảm biến tiết kiệm pin cần chuyển chế độ Deep Sleep ngay.</a:t>
            </a:r>
          </a:p>
        </p:txBody>
      </p:sp>
      <p:graphicFrame>
        <p:nvGraphicFramePr>
          <p:cNvPr id="6" name="Table 5"/>
          <p:cNvGraphicFramePr>
            <a:graphicFrameLocks noGrp="1"/>
          </p:cNvGraphicFramePr>
          <p:nvPr/>
        </p:nvGraphicFramePr>
        <p:xfrm>
          <a:off x="1005840" y="2377440"/>
          <a:ext cx="10149840" cy="1645920"/>
        </p:xfrm>
        <a:graphic>
          <a:graphicData uri="http://schemas.openxmlformats.org/drawingml/2006/table">
            <a:tbl>
              <a:tblPr firstRow="1" bandRow="1">
                <a:tableStyleId>{5C22544A-7EE6-4342-B048-85BDC9FD1C3A}</a:tableStyleId>
              </a:tblPr>
              <a:tblGrid>
                <a:gridCol w="2011680"/>
                <a:gridCol w="1280160"/>
                <a:gridCol w="1371600"/>
                <a:gridCol w="1371600"/>
                <a:gridCol w="1371600"/>
                <a:gridCol w="1371600"/>
                <a:gridCol w="1371600"/>
              </a:tblGrid>
              <a:tr h="548640">
                <a:tc>
                  <a:txBody>
                    <a:bodyPr/>
                    <a:lstStyle/>
                    <a:p>
                      <a:pPr>
                        <a:defRPr b="1" sz="1050">
                          <a:solidFill>
                            <a:srgbClr val="60A5FA"/>
                          </a:solidFill>
                        </a:defRPr>
                      </a:pPr>
                      <a:r>
                        <a:t>Thuật Toán</a:t>
                      </a:r>
                    </a:p>
                  </a:txBody>
                  <a:tcPr>
                    <a:solidFill>
                      <a:srgbClr val="1E293B"/>
                    </a:solidFill>
                  </a:tcPr>
                </a:tc>
                <a:tc>
                  <a:txBody>
                    <a:bodyPr/>
                    <a:lstStyle/>
                    <a:p>
                      <a:pPr>
                        <a:defRPr b="1" sz="1050">
                          <a:solidFill>
                            <a:srgbClr val="60A5FA"/>
                          </a:solidFill>
                        </a:defRPr>
                      </a:pPr>
                      <a:r>
                        <a:t>Dung Lượng (B)</a:t>
                      </a:r>
                    </a:p>
                  </a:txBody>
                  <a:tcPr>
                    <a:solidFill>
                      <a:srgbClr val="1E293B"/>
                    </a:solidFill>
                  </a:tcPr>
                </a:tc>
                <a:tc>
                  <a:txBody>
                    <a:bodyPr/>
                    <a:lstStyle/>
                    <a:p>
                      <a:pPr>
                        <a:defRPr b="1" sz="1050">
                          <a:solidFill>
                            <a:srgbClr val="60A5FA"/>
                          </a:solidFill>
                        </a:defRPr>
                      </a:pPr>
                      <a:r>
                        <a:t>Tốc Độ Bít</a:t>
                      </a:r>
                    </a:p>
                  </a:txBody>
                  <a:tcPr>
                    <a:solidFill>
                      <a:srgbClr val="1E293B"/>
                    </a:solidFill>
                  </a:tcPr>
                </a:tc>
                <a:tc>
                  <a:txBody>
                    <a:bodyPr/>
                    <a:lstStyle/>
                    <a:p>
                      <a:pPr>
                        <a:defRPr b="1" sz="1050">
                          <a:solidFill>
                            <a:srgbClr val="60A5FA"/>
                          </a:solidFill>
                        </a:defRPr>
                      </a:pPr>
                      <a:r>
                        <a:t>Tỉ Số Nén</a:t>
                      </a:r>
                    </a:p>
                  </a:txBody>
                  <a:tcPr>
                    <a:solidFill>
                      <a:srgbClr val="1E293B"/>
                    </a:solidFill>
                  </a:tcPr>
                </a:tc>
                <a:tc>
                  <a:txBody>
                    <a:bodyPr/>
                    <a:lstStyle/>
                    <a:p>
                      <a:pPr>
                        <a:defRPr b="1" sz="1050">
                          <a:solidFill>
                            <a:srgbClr val="60A5FA"/>
                          </a:solidFill>
                        </a:defRPr>
                      </a:pPr>
                      <a:r>
                        <a:t>PSNR (dB)</a:t>
                      </a:r>
                    </a:p>
                  </a:txBody>
                  <a:tcPr>
                    <a:solidFill>
                      <a:srgbClr val="1E293B"/>
                    </a:solidFill>
                  </a:tcPr>
                </a:tc>
                <a:tc>
                  <a:txBody>
                    <a:bodyPr/>
                    <a:lstStyle/>
                    <a:p>
                      <a:pPr>
                        <a:defRPr b="1" sz="1050">
                          <a:solidFill>
                            <a:srgbClr val="60A5FA"/>
                          </a:solidFill>
                        </a:defRPr>
                      </a:pPr>
                      <a:r>
                        <a:t>SSIM</a:t>
                      </a:r>
                    </a:p>
                  </a:txBody>
                  <a:tcPr>
                    <a:solidFill>
                      <a:srgbClr val="1E293B"/>
                    </a:solidFill>
                  </a:tcPr>
                </a:tc>
                <a:tc>
                  <a:txBody>
                    <a:bodyPr/>
                    <a:lstStyle/>
                    <a:p>
                      <a:pPr>
                        <a:defRPr b="1" sz="1050">
                          <a:solidFill>
                            <a:srgbClr val="60A5FA"/>
                          </a:solidFill>
                        </a:defRPr>
                      </a:pPr>
                      <a:r>
                        <a:t>Thời Gian ESP32</a:t>
                      </a:r>
                    </a:p>
                  </a:txBody>
                  <a:tcPr>
                    <a:solidFill>
                      <a:srgbClr val="1E293B"/>
                    </a:solidFill>
                  </a:tcPr>
                </a:tc>
              </a:tr>
              <a:tr h="548640">
                <a:tc>
                  <a:txBody>
                    <a:bodyPr/>
                    <a:lstStyle/>
                    <a:p>
                      <a:pPr>
                        <a:defRPr sz="1100">
                          <a:solidFill>
                            <a:srgbClr val="F8FAFC"/>
                          </a:solidFill>
                        </a:defRPr>
                      </a:pPr>
                      <a:r>
                        <a:t>TinyCAE INT8</a:t>
                      </a:r>
                    </a:p>
                  </a:txBody>
                  <a:tcPr>
                    <a:solidFill>
                      <a:srgbClr val="141C30"/>
                    </a:solidFill>
                  </a:tcPr>
                </a:tc>
                <a:tc>
                  <a:txBody>
                    <a:bodyPr/>
                    <a:lstStyle/>
                    <a:p>
                      <a:pPr>
                        <a:defRPr sz="1100">
                          <a:solidFill>
                            <a:srgbClr val="F8FAFC"/>
                          </a:solidFill>
                        </a:defRPr>
                      </a:pPr>
                      <a:r>
                        <a:t>1.024,00 B</a:t>
                      </a:r>
                    </a:p>
                  </a:txBody>
                  <a:tcPr>
                    <a:solidFill>
                      <a:srgbClr val="141C30"/>
                    </a:solidFill>
                  </a:tcPr>
                </a:tc>
                <a:tc>
                  <a:txBody>
                    <a:bodyPr/>
                    <a:lstStyle/>
                    <a:p>
                      <a:pPr>
                        <a:defRPr sz="1100">
                          <a:solidFill>
                            <a:srgbClr val="F8FAFC"/>
                          </a:solidFill>
                        </a:defRPr>
                      </a:pPr>
                      <a:r>
                        <a:t>8,0000 bpp</a:t>
                      </a:r>
                    </a:p>
                  </a:txBody>
                  <a:tcPr>
                    <a:solidFill>
                      <a:srgbClr val="141C30"/>
                    </a:solidFill>
                  </a:tcPr>
                </a:tc>
                <a:tc>
                  <a:txBody>
                    <a:bodyPr/>
                    <a:lstStyle/>
                    <a:p>
                      <a:pPr>
                        <a:defRPr sz="1100">
                          <a:solidFill>
                            <a:srgbClr val="F8FAFC"/>
                          </a:solidFill>
                        </a:defRPr>
                      </a:pPr>
                      <a:r>
                        <a:t>3,00 : 1</a:t>
                      </a:r>
                    </a:p>
                  </a:txBody>
                  <a:tcPr>
                    <a:solidFill>
                      <a:srgbClr val="141C30"/>
                    </a:solidFill>
                  </a:tcPr>
                </a:tc>
                <a:tc>
                  <a:txBody>
                    <a:bodyPr/>
                    <a:lstStyle/>
                    <a:p>
                      <a:pPr>
                        <a:defRPr sz="1100">
                          <a:solidFill>
                            <a:srgbClr val="F8FAFC"/>
                          </a:solidFill>
                        </a:defRPr>
                      </a:pPr>
                      <a:r>
                        <a:t>31,33 ± 1,90 dB</a:t>
                      </a:r>
                    </a:p>
                  </a:txBody>
                  <a:tcPr>
                    <a:solidFill>
                      <a:srgbClr val="141C30"/>
                    </a:solidFill>
                  </a:tcPr>
                </a:tc>
                <a:tc>
                  <a:txBody>
                    <a:bodyPr/>
                    <a:lstStyle/>
                    <a:p>
                      <a:pPr>
                        <a:defRPr sz="1100">
                          <a:solidFill>
                            <a:srgbClr val="F8FAFC"/>
                          </a:solidFill>
                        </a:defRPr>
                      </a:pPr>
                      <a:r>
                        <a:t>0,9674 ± 0,013</a:t>
                      </a:r>
                    </a:p>
                  </a:txBody>
                  <a:tcPr>
                    <a:solidFill>
                      <a:srgbClr val="141C30"/>
                    </a:solidFill>
                  </a:tcPr>
                </a:tc>
                <a:tc>
                  <a:txBody>
                    <a:bodyPr/>
                    <a:lstStyle/>
                    <a:p>
                      <a:pPr>
                        <a:defRPr sz="1100">
                          <a:solidFill>
                            <a:srgbClr val="F8FAFC"/>
                          </a:solidFill>
                        </a:defRPr>
                      </a:pPr>
                      <a:r>
                        <a:t>60,70 ms</a:t>
                      </a:r>
                    </a:p>
                  </a:txBody>
                  <a:tcPr>
                    <a:solidFill>
                      <a:srgbClr val="141C30"/>
                    </a:solidFill>
                  </a:tcPr>
                </a:tc>
              </a:tr>
              <a:tr h="548640">
                <a:tc>
                  <a:txBody>
                    <a:bodyPr/>
                    <a:lstStyle/>
                    <a:p>
                      <a:pPr>
                        <a:defRPr sz="1100">
                          <a:solidFill>
                            <a:srgbClr val="F8FAFC"/>
                          </a:solidFill>
                        </a:defRPr>
                      </a:pPr>
                      <a:r>
                        <a:t>JPEG Q70 (Khóa)</a:t>
                      </a:r>
                    </a:p>
                  </a:txBody>
                  <a:tcPr>
                    <a:solidFill>
                      <a:srgbClr val="1A233A"/>
                    </a:solidFill>
                  </a:tcPr>
                </a:tc>
                <a:tc>
                  <a:txBody>
                    <a:bodyPr/>
                    <a:lstStyle/>
                    <a:p>
                      <a:pPr>
                        <a:defRPr sz="1100">
                          <a:solidFill>
                            <a:srgbClr val="F8FAFC"/>
                          </a:solidFill>
                        </a:defRPr>
                      </a:pPr>
                      <a:r>
                        <a:t>968,55 B</a:t>
                      </a:r>
                    </a:p>
                  </a:txBody>
                  <a:tcPr>
                    <a:solidFill>
                      <a:srgbClr val="1A233A"/>
                    </a:solidFill>
                  </a:tcPr>
                </a:tc>
                <a:tc>
                  <a:txBody>
                    <a:bodyPr/>
                    <a:lstStyle/>
                    <a:p>
                      <a:pPr>
                        <a:defRPr sz="1100">
                          <a:solidFill>
                            <a:srgbClr val="F8FAFC"/>
                          </a:solidFill>
                        </a:defRPr>
                      </a:pPr>
                      <a:r>
                        <a:t>7,5668 bpp</a:t>
                      </a:r>
                    </a:p>
                  </a:txBody>
                  <a:tcPr>
                    <a:solidFill>
                      <a:srgbClr val="1A233A"/>
                    </a:solidFill>
                  </a:tcPr>
                </a:tc>
                <a:tc>
                  <a:txBody>
                    <a:bodyPr/>
                    <a:lstStyle/>
                    <a:p>
                      <a:pPr>
                        <a:defRPr sz="1100">
                          <a:solidFill>
                            <a:srgbClr val="F8FAFC"/>
                          </a:solidFill>
                        </a:defRPr>
                      </a:pPr>
                      <a:r>
                        <a:t>3,18 : 1</a:t>
                      </a:r>
                    </a:p>
                  </a:txBody>
                  <a:tcPr>
                    <a:solidFill>
                      <a:srgbClr val="1A233A"/>
                    </a:solidFill>
                  </a:tcPr>
                </a:tc>
                <a:tc>
                  <a:txBody>
                    <a:bodyPr/>
                    <a:lstStyle/>
                    <a:p>
                      <a:pPr>
                        <a:defRPr sz="1100">
                          <a:solidFill>
                            <a:srgbClr val="F8FAFC"/>
                          </a:solidFill>
                        </a:defRPr>
                      </a:pPr>
                      <a:r>
                        <a:t>31,18 ± 1,55 dB</a:t>
                      </a:r>
                    </a:p>
                  </a:txBody>
                  <a:tcPr>
                    <a:solidFill>
                      <a:srgbClr val="1A233A"/>
                    </a:solidFill>
                  </a:tcPr>
                </a:tc>
                <a:tc>
                  <a:txBody>
                    <a:bodyPr/>
                    <a:lstStyle/>
                    <a:p>
                      <a:pPr>
                        <a:defRPr sz="1100">
                          <a:solidFill>
                            <a:srgbClr val="F8FAFC"/>
                          </a:solidFill>
                        </a:defRPr>
                      </a:pPr>
                      <a:r>
                        <a:t>0,9644 ± 0,015</a:t>
                      </a:r>
                    </a:p>
                  </a:txBody>
                  <a:tcPr>
                    <a:solidFill>
                      <a:srgbClr val="1A233A"/>
                    </a:solidFill>
                  </a:tcPr>
                </a:tc>
                <a:tc>
                  <a:txBody>
                    <a:bodyPr/>
                    <a:lstStyle/>
                    <a:p>
                      <a:pPr>
                        <a:defRPr sz="1100">
                          <a:solidFill>
                            <a:srgbClr val="F8FAFC"/>
                          </a:solidFill>
                        </a:defRPr>
                      </a:pPr>
                      <a:r>
                        <a:t>2,43 ms</a:t>
                      </a:r>
                    </a:p>
                  </a:txBody>
                  <a:tcPr>
                    <a:solidFill>
                      <a:srgbClr val="1A233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8. Đồ Thị Phân Tích Rate - Distortion &amp; Thời Gian Thực Thi</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pp_psnr_comparison.png"/>
          <p:cNvPicPr>
            <a:picLocks noChangeAspect="1"/>
          </p:cNvPicPr>
          <p:nvPr/>
        </p:nvPicPr>
        <p:blipFill>
          <a:blip r:embed="rId2"/>
          <a:stretch>
            <a:fillRect/>
          </a:stretch>
        </p:blipFill>
        <p:spPr>
          <a:xfrm>
            <a:off x="822960" y="1737360"/>
            <a:ext cx="4937760" cy="3394710"/>
          </a:xfrm>
          <a:prstGeom prst="rect">
            <a:avLst/>
          </a:prstGeom>
        </p:spPr>
      </p:pic>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ution_time_comparison.png"/>
          <p:cNvPicPr>
            <a:picLocks noChangeAspect="1"/>
          </p:cNvPicPr>
          <p:nvPr/>
        </p:nvPicPr>
        <p:blipFill>
          <a:blip r:embed="rId3"/>
          <a:stretch>
            <a:fillRect/>
          </a:stretch>
        </p:blipFill>
        <p:spPr>
          <a:xfrm>
            <a:off x="6309360" y="1737360"/>
            <a:ext cx="5029200" cy="31432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9. Phân Tích Độ Lệch Ghép Cặp Từng Ảnh (Pairwise Analysis)</a:t>
            </a:r>
          </a:p>
        </p:txBody>
      </p:sp>
      <p:sp>
        <p:nvSpPr>
          <p:cNvPr id="4" name="Rounded Rectangle 3"/>
          <p:cNvSpPr/>
          <p:nvPr/>
        </p:nvSpPr>
        <p:spPr>
          <a:xfrm>
            <a:off x="731520" y="1645920"/>
            <a:ext cx="594360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irwise_delta_analysis.png"/>
          <p:cNvPicPr>
            <a:picLocks noChangeAspect="1"/>
          </p:cNvPicPr>
          <p:nvPr/>
        </p:nvPicPr>
        <p:blipFill>
          <a:blip r:embed="rId2"/>
          <a:stretch>
            <a:fillRect/>
          </a:stretch>
        </p:blipFill>
        <p:spPr>
          <a:xfrm>
            <a:off x="822960" y="1737360"/>
            <a:ext cx="5760720" cy="4608576"/>
          </a:xfrm>
          <a:prstGeom prst="rect">
            <a:avLst/>
          </a:prstGeom>
        </p:spPr>
      </p:pic>
      <p:sp>
        <p:nvSpPr>
          <p:cNvPr id="6" name="Rounded Rectangle 5"/>
          <p:cNvSpPr/>
          <p:nvPr/>
        </p:nvSpPr>
        <p:spPr>
          <a:xfrm>
            <a:off x="6949440" y="1645920"/>
            <a:ext cx="448056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828800"/>
            <a:ext cx="4114800" cy="4114800"/>
          </a:xfrm>
          <a:prstGeom prst="rect">
            <a:avLst/>
          </a:prstGeom>
          <a:noFill/>
        </p:spPr>
        <p:txBody>
          <a:bodyPr wrap="square">
            <a:spAutoFit/>
          </a:bodyPr>
          <a:lstStyle/>
          <a:p>
            <a:pPr>
              <a:defRPr b="1" sz="1400">
                <a:solidFill>
                  <a:srgbClr val="38BDF8"/>
                </a:solidFill>
              </a:defRPr>
            </a:pPr>
            <a:r>
              <a:t>Đặc Điểm Phân Hóa Theo Nội Dung Ảnh</a:t>
            </a:r>
          </a:p>
          <a:p>
            <a:br/>
            <a:pPr>
              <a:defRPr sz="1100">
                <a:solidFill>
                  <a:srgbClr val="F8FAFC"/>
                </a:solidFill>
              </a:defRPr>
            </a:pPr>
            <a:r>
              <a:t>• Nhóm ảnh TinyCAE vượt trội (ΔPSNR &gt; 0): Bao gồm các lớp Máy bay (+1,72 dB), Ô tô (+1,12 dB), Tàu thủy (+0,95 dB). Bề mặt vật thể nhân tạo có gradient liên tục giúp tích chập học sâu tái tạo viền mượt mà.</a:t>
            </a:r>
          </a:p>
          <a:p>
            <a:br/>
            <a:pPr>
              <a:defRPr sz="1100">
                <a:solidFill>
                  <a:srgbClr val="F8FAFC"/>
                </a:solidFill>
              </a:defRPr>
            </a:pPr>
            <a:r>
              <a:t>• Nhóm ảnh JPEG vượt trội (ΔPSNR &lt; 0): Bao gồm các lớp Con chó (-1,44 dB), Con chim (-0,25 dB), Con ếch (-0,58 dB). Các họa tiết tần số cao như lông thú, da sần sùi được biểu diễn DCT ở bitrate cao giữ chi tiết tốt hơn mạng thu nhỏ.</a:t>
            </a:r>
          </a:p>
          <a:p>
            <a:br/>
            <a:pPr>
              <a:defRPr sz="1100">
                <a:solidFill>
                  <a:srgbClr val="F8FAFC"/>
                </a:solidFill>
              </a:defRPr>
            </a:pPr>
            <a:r>
              <a:t>• Ý nghĩa khoa học: Kết quả chứng minh không có thuật toán nào tối ưu tuyệt đối cho mọi thể loại ảnh; lựa chọn bộ mã hóa trên IoT cần căn cứ theo hoạt cảnh cảm biến quan sát.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10. So Sánh Chất Lượng Tái Tạo Trực Quan (Visual Comparison)</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sual_reconstruction_grid.png"/>
          <p:cNvPicPr>
            <a:picLocks noChangeAspect="1"/>
          </p:cNvPicPr>
          <p:nvPr/>
        </p:nvPicPr>
        <p:blipFill>
          <a:blip r:embed="rId2"/>
          <a:stretch>
            <a:fillRect/>
          </a:stretch>
        </p:blipFill>
        <p:spPr>
          <a:xfrm>
            <a:off x="914400" y="1828800"/>
            <a:ext cx="10332720" cy="107632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11. Đánh Giá Tiêu Thụ Bộ Nhớ &amp; Tài Nguyên ESP32</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34D399"/>
                </a:solidFill>
              </a:defRPr>
            </a:pPr>
            <a:r>
              <a:t>Phân Bổ Vùng Nhớ Thực Tế Khi Hệ Thống Vận Hành</a:t>
            </a:r>
          </a:p>
          <a:p>
            <a:br/>
            <a:pPr>
              <a:defRPr sz="1100" b="1">
                <a:solidFill>
                  <a:srgbClr val="FBBF24"/>
                </a:solidFill>
              </a:defRPr>
            </a:pPr>
            <a:r>
              <a:t>★ KẾT LUẬN TÀI NGUYÊN: Chiến lược đưa Tensor Arena lên PSRAM ngoài giúp hệ thống chạy hoàn toàn ổn định, không gây tràn ngăn xếp (Stack Overflow) hay thiếu hụt heap nội bộ của chip.</a:t>
            </a:r>
          </a:p>
        </p:txBody>
      </p:sp>
      <p:graphicFrame>
        <p:nvGraphicFramePr>
          <p:cNvPr id="6" name="Table 5"/>
          <p:cNvGraphicFramePr>
            <a:graphicFrameLocks noGrp="1"/>
          </p:cNvGraphicFramePr>
          <p:nvPr/>
        </p:nvGraphicFramePr>
        <p:xfrm>
          <a:off x="1005840" y="2377440"/>
          <a:ext cx="10149840" cy="2560320"/>
        </p:xfrm>
        <a:graphic>
          <a:graphicData uri="http://schemas.openxmlformats.org/drawingml/2006/table">
            <a:tbl>
              <a:tblPr firstRow="1" bandRow="1">
                <a:tableStyleId>{5C22544A-7EE6-4342-B048-85BDC9FD1C3A}</a:tableStyleId>
              </a:tblPr>
              <a:tblGrid>
                <a:gridCol w="2926080"/>
                <a:gridCol w="2011680"/>
                <a:gridCol w="2011680"/>
                <a:gridCol w="3200400"/>
              </a:tblGrid>
              <a:tr h="426720">
                <a:tc>
                  <a:txBody>
                    <a:bodyPr/>
                    <a:lstStyle/>
                    <a:p>
                      <a:pPr>
                        <a:defRPr b="1" sz="1100">
                          <a:solidFill>
                            <a:srgbClr val="38BDF8"/>
                          </a:solidFill>
                        </a:defRPr>
                      </a:pPr>
                      <a:r>
                        <a:t>Thành Phần Bộ Nhớ</a:t>
                      </a:r>
                    </a:p>
                  </a:txBody>
                  <a:tcPr>
                    <a:solidFill>
                      <a:srgbClr val="1E293B"/>
                    </a:solidFill>
                  </a:tcPr>
                </a:tc>
                <a:tc>
                  <a:txBody>
                    <a:bodyPr/>
                    <a:lstStyle/>
                    <a:p>
                      <a:pPr>
                        <a:defRPr b="1" sz="1100">
                          <a:solidFill>
                            <a:srgbClr val="38BDF8"/>
                          </a:solidFill>
                        </a:defRPr>
                      </a:pPr>
                      <a:r>
                        <a:t>Vị Trí Cấp Phát</a:t>
                      </a:r>
                    </a:p>
                  </a:txBody>
                  <a:tcPr>
                    <a:solidFill>
                      <a:srgbClr val="1E293B"/>
                    </a:solidFill>
                  </a:tcPr>
                </a:tc>
                <a:tc>
                  <a:txBody>
                    <a:bodyPr/>
                    <a:lstStyle/>
                    <a:p>
                      <a:pPr>
                        <a:defRPr b="1" sz="1100">
                          <a:solidFill>
                            <a:srgbClr val="38BDF8"/>
                          </a:solidFill>
                        </a:defRPr>
                      </a:pPr>
                      <a:r>
                        <a:t>Dung Lượng Sử Dụng</a:t>
                      </a:r>
                    </a:p>
                  </a:txBody>
                  <a:tcPr>
                    <a:solidFill>
                      <a:srgbClr val="1E293B"/>
                    </a:solidFill>
                  </a:tcPr>
                </a:tc>
                <a:tc>
                  <a:txBody>
                    <a:bodyPr/>
                    <a:lstStyle/>
                    <a:p>
                      <a:pPr>
                        <a:defRPr b="1" sz="1100">
                          <a:solidFill>
                            <a:srgbClr val="38BDF8"/>
                          </a:solidFill>
                        </a:defRPr>
                      </a:pPr>
                      <a:r>
                        <a:t>Trạng Thái &amp; Mức Độ An Toàn</a:t>
                      </a:r>
                    </a:p>
                  </a:txBody>
                  <a:tcPr>
                    <a:solidFill>
                      <a:srgbClr val="1E293B"/>
                    </a:solidFill>
                  </a:tcPr>
                </a:tc>
              </a:tr>
              <a:tr h="426720">
                <a:tc>
                  <a:txBody>
                    <a:bodyPr/>
                    <a:lstStyle/>
                    <a:p>
                      <a:pPr>
                        <a:defRPr sz="1050">
                          <a:solidFill>
                            <a:srgbClr val="F8FAFC"/>
                          </a:solidFill>
                        </a:defRPr>
                      </a:pPr>
                      <a:r>
                        <a:t>Kích thước tệp mô hình (Flash)</a:t>
                      </a:r>
                    </a:p>
                  </a:txBody>
                  <a:tcPr>
                    <a:solidFill>
                      <a:srgbClr val="141C30"/>
                    </a:solidFill>
                  </a:tcPr>
                </a:tc>
                <a:tc>
                  <a:txBody>
                    <a:bodyPr/>
                    <a:lstStyle/>
                    <a:p>
                      <a:pPr>
                        <a:defRPr sz="1050">
                          <a:solidFill>
                            <a:srgbClr val="F8FAFC"/>
                          </a:solidFill>
                        </a:defRPr>
                      </a:pPr>
                      <a:r>
                        <a:t>SPI Flash (ROData)</a:t>
                      </a:r>
                    </a:p>
                  </a:txBody>
                  <a:tcPr>
                    <a:solidFill>
                      <a:srgbClr val="141C30"/>
                    </a:solidFill>
                  </a:tcPr>
                </a:tc>
                <a:tc>
                  <a:txBody>
                    <a:bodyPr/>
                    <a:lstStyle/>
                    <a:p>
                      <a:pPr>
                        <a:defRPr sz="1050">
                          <a:solidFill>
                            <a:srgbClr val="F8FAFC"/>
                          </a:solidFill>
                        </a:defRPr>
                      </a:pPr>
                      <a:r>
                        <a:t>9.560 Bytes (~9,5 KB)</a:t>
                      </a:r>
                    </a:p>
                  </a:txBody>
                  <a:tcPr>
                    <a:solidFill>
                      <a:srgbClr val="141C30"/>
                    </a:solidFill>
                  </a:tcPr>
                </a:tc>
                <a:tc>
                  <a:txBody>
                    <a:bodyPr/>
                    <a:lstStyle/>
                    <a:p>
                      <a:pPr>
                        <a:defRPr sz="1050">
                          <a:solidFill>
                            <a:srgbClr val="F8FAFC"/>
                          </a:solidFill>
                        </a:defRPr>
                      </a:pPr>
                      <a:r>
                        <a:t>Rất nhỏ, chiếm &lt; 0,25% Flash 4 MB</a:t>
                      </a:r>
                    </a:p>
                  </a:txBody>
                  <a:tcPr>
                    <a:solidFill>
                      <a:srgbClr val="141C30"/>
                    </a:solidFill>
                  </a:tcPr>
                </a:tc>
              </a:tr>
              <a:tr h="426720">
                <a:tc>
                  <a:txBody>
                    <a:bodyPr/>
                    <a:lstStyle/>
                    <a:p>
                      <a:pPr>
                        <a:defRPr sz="1050">
                          <a:solidFill>
                            <a:srgbClr val="F8FAFC"/>
                          </a:solidFill>
                        </a:defRPr>
                      </a:pPr>
                      <a:r>
                        <a:t>Tensor Arena (TFLite Micro)</a:t>
                      </a:r>
                    </a:p>
                  </a:txBody>
                  <a:tcPr>
                    <a:solidFill>
                      <a:srgbClr val="1A233A"/>
                    </a:solidFill>
                  </a:tcPr>
                </a:tc>
                <a:tc>
                  <a:txBody>
                    <a:bodyPr/>
                    <a:lstStyle/>
                    <a:p>
                      <a:pPr>
                        <a:defRPr sz="1050">
                          <a:solidFill>
                            <a:srgbClr val="F8FAFC"/>
                          </a:solidFill>
                        </a:defRPr>
                      </a:pPr>
                      <a:r>
                        <a:t>SPI PSRAM ngoài</a:t>
                      </a:r>
                    </a:p>
                  </a:txBody>
                  <a:tcPr>
                    <a:solidFill>
                      <a:srgbClr val="1A233A"/>
                    </a:solidFill>
                  </a:tcPr>
                </a:tc>
                <a:tc>
                  <a:txBody>
                    <a:bodyPr/>
                    <a:lstStyle/>
                    <a:p>
                      <a:pPr>
                        <a:defRPr sz="1050">
                          <a:solidFill>
                            <a:srgbClr val="F8FAFC"/>
                          </a:solidFill>
                        </a:defRPr>
                      </a:pPr>
                      <a:r>
                        <a:t>131.072 Bytes (128 KiB)</a:t>
                      </a:r>
                    </a:p>
                  </a:txBody>
                  <a:tcPr>
                    <a:solidFill>
                      <a:srgbClr val="1A233A"/>
                    </a:solidFill>
                  </a:tcPr>
                </a:tc>
                <a:tc>
                  <a:txBody>
                    <a:bodyPr/>
                    <a:lstStyle/>
                    <a:p>
                      <a:pPr>
                        <a:defRPr sz="1050">
                          <a:solidFill>
                            <a:srgbClr val="F8FAFC"/>
                          </a:solidFill>
                        </a:defRPr>
                      </a:pPr>
                      <a:r>
                        <a:t>Được cấp phát từ PSRAM, không ảnh hưởng SRAM nội</a:t>
                      </a:r>
                    </a:p>
                  </a:txBody>
                  <a:tcPr>
                    <a:solidFill>
                      <a:srgbClr val="1A233A"/>
                    </a:solidFill>
                  </a:tcPr>
                </a:tc>
              </a:tr>
              <a:tr h="426720">
                <a:tc>
                  <a:txBody>
                    <a:bodyPr/>
                    <a:lstStyle/>
                    <a:p>
                      <a:pPr>
                        <a:defRPr sz="1050">
                          <a:solidFill>
                            <a:srgbClr val="F8FAFC"/>
                          </a:solidFill>
                        </a:defRPr>
                      </a:pPr>
                      <a:r>
                        <a:t>Bộ đệm mã hóa JPEG (Output)</a:t>
                      </a:r>
                    </a:p>
                  </a:txBody>
                  <a:tcPr>
                    <a:solidFill>
                      <a:srgbClr val="141C30"/>
                    </a:solidFill>
                  </a:tcPr>
                </a:tc>
                <a:tc>
                  <a:txBody>
                    <a:bodyPr/>
                    <a:lstStyle/>
                    <a:p>
                      <a:pPr>
                        <a:defRPr sz="1050">
                          <a:solidFill>
                            <a:srgbClr val="F8FAFC"/>
                          </a:solidFill>
                        </a:defRPr>
                      </a:pPr>
                      <a:r>
                        <a:t>SPI PSRAM ngoài</a:t>
                      </a:r>
                    </a:p>
                  </a:txBody>
                  <a:tcPr>
                    <a:solidFill>
                      <a:srgbClr val="141C30"/>
                    </a:solidFill>
                  </a:tcPr>
                </a:tc>
                <a:tc>
                  <a:txBody>
                    <a:bodyPr/>
                    <a:lstStyle/>
                    <a:p>
                      <a:pPr>
                        <a:defRPr sz="1050">
                          <a:solidFill>
                            <a:srgbClr val="F8FAFC"/>
                          </a:solidFill>
                        </a:defRPr>
                      </a:pPr>
                      <a:r>
                        <a:t>8.192 Bytes (8 KiB)</a:t>
                      </a:r>
                    </a:p>
                  </a:txBody>
                  <a:tcPr>
                    <a:solidFill>
                      <a:srgbClr val="141C30"/>
                    </a:solidFill>
                  </a:tcPr>
                </a:tc>
                <a:tc>
                  <a:txBody>
                    <a:bodyPr/>
                    <a:lstStyle/>
                    <a:p>
                      <a:pPr>
                        <a:defRPr sz="1050">
                          <a:solidFill>
                            <a:srgbClr val="F8FAFC"/>
                          </a:solidFill>
                        </a:defRPr>
                      </a:pPr>
                      <a:r>
                        <a:t>Cấp phát an toàn trên PSRAM</a:t>
                      </a:r>
                    </a:p>
                  </a:txBody>
                  <a:tcPr>
                    <a:solidFill>
                      <a:srgbClr val="141C30"/>
                    </a:solidFill>
                  </a:tcPr>
                </a:tc>
              </a:tr>
              <a:tr h="426720">
                <a:tc>
                  <a:txBody>
                    <a:bodyPr/>
                    <a:lstStyle/>
                    <a:p>
                      <a:pPr>
                        <a:defRPr sz="1050">
                          <a:solidFill>
                            <a:srgbClr val="F8FAFC"/>
                          </a:solidFill>
                        </a:defRPr>
                      </a:pPr>
                      <a:r>
                        <a:t>SRAM nội bộ tự do (Internal Free Heap)</a:t>
                      </a:r>
                    </a:p>
                  </a:txBody>
                  <a:tcPr>
                    <a:solidFill>
                      <a:srgbClr val="1A233A"/>
                    </a:solidFill>
                  </a:tcPr>
                </a:tc>
                <a:tc>
                  <a:txBody>
                    <a:bodyPr/>
                    <a:lstStyle/>
                    <a:p>
                      <a:pPr>
                        <a:defRPr sz="1050">
                          <a:solidFill>
                            <a:srgbClr val="F8FAFC"/>
                          </a:solidFill>
                        </a:defRPr>
                      </a:pPr>
                      <a:r>
                        <a:t>Internal SRAM</a:t>
                      </a:r>
                    </a:p>
                  </a:txBody>
                  <a:tcPr>
                    <a:solidFill>
                      <a:srgbClr val="1A233A"/>
                    </a:solidFill>
                  </a:tcPr>
                </a:tc>
                <a:tc>
                  <a:txBody>
                    <a:bodyPr/>
                    <a:lstStyle/>
                    <a:p>
                      <a:pPr>
                        <a:defRPr sz="1050">
                          <a:solidFill>
                            <a:srgbClr val="F8FAFC"/>
                          </a:solidFill>
                        </a:defRPr>
                      </a:pPr>
                      <a:r>
                        <a:t>287.155 Bytes (~280 KiB)</a:t>
                      </a:r>
                    </a:p>
                  </a:txBody>
                  <a:tcPr>
                    <a:solidFill>
                      <a:srgbClr val="1A233A"/>
                    </a:solidFill>
                  </a:tcPr>
                </a:tc>
                <a:tc>
                  <a:txBody>
                    <a:bodyPr/>
                    <a:lstStyle/>
                    <a:p>
                      <a:pPr>
                        <a:defRPr sz="1050">
                          <a:solidFill>
                            <a:srgbClr val="F8FAFC"/>
                          </a:solidFill>
                        </a:defRPr>
                      </a:pPr>
                      <a:r>
                        <a:t>Rất dồi dào, đảm bảo hệ điều hành FreeRTOS ổn định</a:t>
                      </a:r>
                    </a:p>
                  </a:txBody>
                  <a:tcPr>
                    <a:solidFill>
                      <a:srgbClr val="1A233A"/>
                    </a:solidFill>
                  </a:tcPr>
                </a:tc>
              </a:tr>
              <a:tr h="426720">
                <a:tc>
                  <a:txBody>
                    <a:bodyPr/>
                    <a:lstStyle/>
                    <a:p>
                      <a:pPr>
                        <a:defRPr sz="1050">
                          <a:solidFill>
                            <a:srgbClr val="F8FAFC"/>
                          </a:solidFill>
                        </a:defRPr>
                      </a:pPr>
                      <a:r>
                        <a:t>PSRAM tự do (PSRAM Free Heap)</a:t>
                      </a:r>
                    </a:p>
                  </a:txBody>
                  <a:tcPr>
                    <a:solidFill>
                      <a:srgbClr val="141C30"/>
                    </a:solidFill>
                  </a:tcPr>
                </a:tc>
                <a:tc>
                  <a:txBody>
                    <a:bodyPr/>
                    <a:lstStyle/>
                    <a:p>
                      <a:pPr>
                        <a:defRPr sz="1050">
                          <a:solidFill>
                            <a:srgbClr val="F8FAFC"/>
                          </a:solidFill>
                        </a:defRPr>
                      </a:pPr>
                      <a:r>
                        <a:t>External PSRAM</a:t>
                      </a:r>
                    </a:p>
                  </a:txBody>
                  <a:tcPr>
                    <a:solidFill>
                      <a:srgbClr val="141C30"/>
                    </a:solidFill>
                  </a:tcPr>
                </a:tc>
                <a:tc>
                  <a:txBody>
                    <a:bodyPr/>
                    <a:lstStyle/>
                    <a:p>
                      <a:pPr>
                        <a:defRPr sz="1050">
                          <a:solidFill>
                            <a:srgbClr val="F8FAFC"/>
                          </a:solidFill>
                        </a:defRPr>
                      </a:pPr>
                      <a:r>
                        <a:t>4.050.484 Bytes (&gt; 4,05 MiB)</a:t>
                      </a:r>
                    </a:p>
                  </a:txBody>
                  <a:tcPr>
                    <a:solidFill>
                      <a:srgbClr val="141C30"/>
                    </a:solidFill>
                  </a:tcPr>
                </a:tc>
                <a:tc>
                  <a:txBody>
                    <a:bodyPr/>
                    <a:lstStyle/>
                    <a:p>
                      <a:pPr>
                        <a:defRPr sz="1050">
                          <a:solidFill>
                            <a:srgbClr val="F8FAFC"/>
                          </a:solidFill>
                        </a:defRPr>
                      </a:pPr>
                      <a:r>
                        <a:t>Dung lượng còn trống tới 96%</a:t>
                      </a:r>
                    </a:p>
                  </a:txBody>
                  <a:tcPr>
                    <a:solidFill>
                      <a:srgbClr val="141C30"/>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12. Ứng Dụng Desktop Demo Tương Tác Trực Tiếp</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60A5FA"/>
                </a:solidFill>
              </a:defRPr>
            </a:pPr>
            <a:r>
              <a:t>Sản Phẩm Trình Diễn Nghiệm Thu: Desktop GUI (Tkinter Native)</a:t>
            </a:r>
          </a:p>
          <a:p>
            <a:pPr>
              <a:defRPr sz="1150">
                <a:solidFill>
                  <a:srgbClr val="F8FAFC"/>
                </a:solidFill>
              </a:defRPr>
            </a:pPr>
            <a:r>
              <a:t>• Khởi chạy nhanh chóng bằng 1 cú nhấp chuột: Tệp run_demo_gui.bat tự động kích hoạt môi trường Python và mở giao diện ứng dụng desktop.</a:t>
            </a:r>
          </a:p>
          <a:p>
            <a:pPr>
              <a:defRPr sz="1150">
                <a:solidFill>
                  <a:srgbClr val="F8FAFC"/>
                </a:solidFill>
              </a:defRPr>
            </a:pPr>
            <a:r>
              <a:t>• Giao tiếp phần cứng thực tế 100%: Kết nối trực tiếp qua USB-UART COM5 @ 115200 baud với bo ESP32 thật; không dùng chế độ mô phỏng.</a:t>
            </a:r>
          </a:p>
          <a:p>
            <a:pPr>
              <a:defRPr sz="1150">
                <a:solidFill>
                  <a:srgbClr val="F8FAFC"/>
                </a:solidFill>
              </a:defRPr>
            </a:pPr>
            <a:r>
              <a:t>• Hiển thị ảnh kích thước lớn &amp; cực nét (220 × 220 pixel): Sử dụng thuật toán nội suy Nearest-Neighbor để phóng đại ảnh gốc 32x32 và ảnh tái tạo rõ từng pixel khi quay video màn hình.</a:t>
            </a:r>
          </a:p>
          <a:p>
            <a:pPr>
              <a:defRPr sz="1150">
                <a:solidFill>
                  <a:srgbClr val="F8FAFC"/>
                </a:solidFill>
              </a:defRPr>
            </a:pPr>
            <a:r>
              <a:t>• Thao tác trực quan &amp; Linh hoạt: Cho phép chọn các ảnh mẫu CIFAR-10 hoặc tải ảnh bất kỳ từ máy tính cá nhân lên để kiểm tra tính tổng quát.</a:t>
            </a:r>
          </a:p>
          <a:p>
            <a:pPr>
              <a:defRPr sz="1150">
                <a:solidFill>
                  <a:srgbClr val="F8FAFC"/>
                </a:solidFill>
              </a:defRPr>
            </a:pPr>
            <a:r>
              <a:t>• Thanh kết quả đối chứng tức thì: Hiển thị tức thì chênh lệch ΔPSNR, ΔSSIM, tỷ lệ tăng tốc độ và dung lượng gói dữ liệu sau mỗi lượt nén.</a:t>
            </a:r>
          </a:p>
          <a:p>
            <a:pPr>
              <a:defRPr sz="1150">
                <a:solidFill>
                  <a:srgbClr val="F8FAFC"/>
                </a:solidFill>
              </a:defRPr>
            </a:pPr>
            <a:r>
              <a:t>• Bảng điều khiển UART Telemetry: Quan sát trực tiếp các byte lệnh PING, TINYCAE, JPEG gửi đi và phản hồi nhị phân trả về từ bo ESP32.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13. Đóng Góp Kỹ Thuật &amp; Giới Hạn Của Đề Tài</a:t>
            </a:r>
          </a:p>
        </p:txBody>
      </p:sp>
      <p:sp>
        <p:nvSpPr>
          <p:cNvPr id="4" name="Rounded Rectangle 3"/>
          <p:cNvSpPr/>
          <p:nvPr/>
        </p:nvSpPr>
        <p:spPr>
          <a:xfrm>
            <a:off x="731520" y="1645920"/>
            <a:ext cx="512064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114800"/>
          </a:xfrm>
          <a:prstGeom prst="rect">
            <a:avLst/>
          </a:prstGeom>
          <a:noFill/>
        </p:spPr>
        <p:txBody>
          <a:bodyPr wrap="square">
            <a:spAutoFit/>
          </a:bodyPr>
          <a:lstStyle/>
          <a:p>
            <a:pPr>
              <a:defRPr b="1" sz="1500">
                <a:solidFill>
                  <a:srgbClr val="34D399"/>
                </a:solidFill>
              </a:defRPr>
            </a:pPr>
            <a:r>
              <a:t>Đóng Góp Kỹ Thuật Nổi Bật</a:t>
            </a:r>
          </a:p>
          <a:p>
            <a:br/>
            <a:pPr>
              <a:defRPr sz="1100">
                <a:solidFill>
                  <a:srgbClr val="F8FAFC"/>
                </a:solidFill>
              </a:defRPr>
            </a:pPr>
            <a:r>
              <a:t>• Khả thi hóa TinyML nén ảnh: Chứng minh mạng nén ảnh tích chập hoàn toàn có thể chạy ổn định trên vi điều khiển giá rẻ ESP32 với bộ nhớ mô hình chỉ 9,5 KB.</a:t>
            </a:r>
          </a:p>
          <a:p>
            <a:br/>
            <a:pPr>
              <a:defRPr sz="1100">
                <a:solidFill>
                  <a:srgbClr val="F8FAFC"/>
                </a:solidFill>
              </a:defRPr>
            </a:pPr>
            <a:r>
              <a:t>• Lợi thế kích thước cố định trong IoT: Gói dữ liệu 1.024 Bytes cố định giúp thiết kế giao thức mạng không dây đơn giản, không bị phân mảnh gói và dự đoán chính xác chi phí năng lượng truyền.</a:t>
            </a:r>
          </a:p>
          <a:p>
            <a:br/>
            <a:pPr>
              <a:defRPr sz="1100">
                <a:solidFill>
                  <a:srgbClr val="F8FAFC"/>
                </a:solidFill>
              </a:defRPr>
            </a:pPr>
            <a:r>
              <a:t>• Quy trình thực nghiệm chuẩn mực: Xây dựng pipeline có thể tái lập 100%, khóa tham số đối chứng minh bạch, đo thời gian t_core loại trừ nhiễu UART.</a:t>
            </a:r>
          </a:p>
        </p:txBody>
      </p:sp>
      <p:sp>
        <p:nvSpPr>
          <p:cNvPr id="6" name="Rounded Rectangle 5"/>
          <p:cNvSpPr/>
          <p:nvPr/>
        </p:nvSpPr>
        <p:spPr>
          <a:xfrm>
            <a:off x="6217920" y="1645920"/>
            <a:ext cx="5212080"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b="1" sz="1500">
                <a:solidFill>
                  <a:srgbClr val="FBBF24"/>
                </a:solidFill>
              </a:defRPr>
            </a:pPr>
            <a:r>
              <a:t>Các Giới Hạn Còn Tồn Tại</a:t>
            </a:r>
          </a:p>
          <a:p>
            <a:br/>
            <a:pPr>
              <a:defRPr sz="1100">
                <a:solidFill>
                  <a:srgbClr val="F8FAFC"/>
                </a:solidFill>
              </a:defRPr>
            </a:pPr>
            <a:r>
              <a:t>• Kích thước ảnh còn nhỏ: Mô hình mới thử nghiệm trên ảnh 32 × 32 (CIFAR-10), chưa mở rộng lên ảnh camera thực tế độ phân giải cao (QVGA / VGA).</a:t>
            </a:r>
          </a:p>
          <a:p>
            <a:br/>
            <a:pPr>
              <a:defRPr sz="1100">
                <a:solidFill>
                  <a:srgbClr val="F8FAFC"/>
                </a:solidFill>
              </a:defRPr>
            </a:pPr>
            <a:r>
              <a:t>• Tốc độ xử lý chưa tối ưu: Thời gian 60,7 ms của TinyCAE chậm hơn 25 lần so với JPEG (2,4 ms) do chip ESP32 đời đầu chưa có tập lệnh SIMD/Vector chuyên dụng cho AI.</a:t>
            </a:r>
          </a:p>
          <a:p>
            <a:br/>
            <a:pPr>
              <a:defRPr sz="1100">
                <a:solidFill>
                  <a:srgbClr val="F8FAFC"/>
                </a:solidFill>
              </a:defRPr>
            </a:pPr>
            <a:r>
              <a:t>• Chưa tích hợp Entropy Coding: Bitstream latent INT8 được truyền trực tiếp dạng thô, chưa kết hợp Huffman/rANS để giảm dung lượng sâu hơn.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1005840"/>
          </a:xfrm>
          <a:prstGeom prst="rect">
            <a:avLst/>
          </a:prstGeom>
          <a:noFill/>
        </p:spPr>
        <p:txBody>
          <a:bodyPr wrap="square" lIns="0" tIns="0" rIns="0" bIns="0">
            <a:spAutoFit/>
          </a:bodyPr>
          <a:lstStyle/>
          <a:p>
            <a:pPr>
              <a:defRPr sz="1000" b="1">
                <a:solidFill>
                  <a:srgbClr val="38BDF8"/>
                </a:solidFill>
                <a:latin typeface="Segoe UI"/>
              </a:defRPr>
            </a:pPr>
            <a:r>
              <a:t>TIỂU LUẬN CUỐI KỲ - TRÍ TUỆ NHÂN TẠO CHO IOT</a:t>
            </a:r>
          </a:p>
          <a:p>
            <a:pPr>
              <a:defRPr sz="2200" b="1">
                <a:solidFill>
                  <a:srgbClr val="F8FAFC"/>
                </a:solidFill>
                <a:latin typeface="Segoe UI"/>
              </a:defRPr>
            </a:pPr>
            <a:r>
              <a:t>14. Hướng Phát Triển Tiếp Theo</a:t>
            </a:r>
          </a:p>
        </p:txBody>
      </p:sp>
      <p:sp>
        <p:nvSpPr>
          <p:cNvPr id="4" name="Rounded Rectangle 3"/>
          <p:cNvSpPr/>
          <p:nvPr/>
        </p:nvSpPr>
        <p:spPr>
          <a:xfrm>
            <a:off x="731520" y="1645920"/>
            <a:ext cx="10728655" cy="4572000"/>
          </a:xfrm>
          <a:prstGeom prst="roundRect">
            <a:avLst/>
          </a:prstGeom>
          <a:solidFill>
            <a:srgbClr val="1A233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defRPr b="1" sz="1500">
                <a:solidFill>
                  <a:srgbClr val="38BDF8"/>
                </a:solidFill>
              </a:defRPr>
            </a:pPr>
            <a:r>
              <a:t>Định Hướng Nâng Cấp Hệ Thống Cho Ứng Dụng Thực Tế</a:t>
            </a:r>
          </a:p>
          <a:p>
            <a:br/>
            <a:pPr>
              <a:defRPr sz="1200">
                <a:solidFill>
                  <a:srgbClr val="F8FAFC"/>
                </a:solidFill>
              </a:defRPr>
            </a:pPr>
            <a:r>
              <a:t>• Nâng cấp vi điều khiển lên ESP32-S3: Tận dụng tập lệnh tăng tốc trí tuệ nhân tạo (ESP-NN Vector Instructions - PIE) trên chip ESP32-S3, dự kiến có thể giảm thời gian nén của TinyCAE xuống dưới 10 ms.</a:t>
            </a:r>
          </a:p>
          <a:p>
            <a:br/>
            <a:pPr>
              <a:defRPr sz="1200">
                <a:solidFill>
                  <a:srgbClr val="F8FAFC"/>
                </a:solidFill>
              </a:defRPr>
            </a:pPr>
            <a:r>
              <a:t>• Nén ảnh độ phân giải lớn theo khối (Patch-based Compression): Chia nhỏ khung hình camera QVGA (320 × 240) thành các khối 32 × 32 hoặc 64 × 64 để nén song song mà không làm tràn bộ nhớ SRAM của thiết bị.</a:t>
            </a:r>
          </a:p>
          <a:p>
            <a:br/>
            <a:pPr>
              <a:defRPr sz="1200">
                <a:solidFill>
                  <a:srgbClr val="F8FAFC"/>
                </a:solidFill>
              </a:defRPr>
            </a:pPr>
            <a:r>
              <a:t>• Kết hợp mã hóa Entropy trên vi điều khiển: Áp dụng thuật toán Huffman rút gọn hoặc Range Coder (rANS) cho phân phối latent INT8, kỳ vọng giảm kích thước gói từ 1.024 Bytes xuống còn 400 - 600 Bytes mà không suy giảm chất lượng.</a:t>
            </a:r>
          </a:p>
          <a:p>
            <a:br/>
            <a:pPr>
              <a:defRPr sz="1200">
                <a:solidFill>
                  <a:srgbClr val="F8FAFC"/>
                </a:solidFill>
              </a:defRPr>
            </a:pPr>
            <a:r>
              <a:t>• Truyền thông không dây thời gian thực: Tích hợp giao thức truyền không dây MQTT qua Wi-Fi hoặc ESP-NOW để xây dựng hệ thống cảm biến thị giác IoT hoàn chỉnh.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99855" cy="3657600"/>
          </a:xfrm>
          <a:prstGeom prst="rect">
            <a:avLst/>
          </a:prstGeom>
          <a:noFill/>
        </p:spPr>
        <p:txBody>
          <a:bodyPr wrap="square">
            <a:spAutoFit/>
          </a:bodyPr>
          <a:lstStyle/>
          <a:p>
            <a:pPr>
              <a:defRPr sz="2000" b="1">
                <a:solidFill>
                  <a:srgbClr val="38BDF8"/>
                </a:solidFill>
                <a:latin typeface="Segoe UI"/>
              </a:defRPr>
            </a:pPr>
            <a:r>
              <a:t>KẾT LUẬN TỔNG THỂ</a:t>
            </a:r>
          </a:p>
          <a:p>
            <a:br/>
            <a:pPr>
              <a:defRPr sz="1300">
                <a:solidFill>
                  <a:srgbClr val="F8FAFC"/>
                </a:solidFill>
                <a:latin typeface="Segoe UI"/>
              </a:defRPr>
            </a:pPr>
            <a:r>
              <a:t>Đề tài đã hoàn thành 100% mục tiêu nghiên cứu và sản phẩm bàn giao theo đề cương:</a:t>
            </a:r>
            <a:br/>
            <a:r>
              <a:t>• Triển khai thành công bộ mã hóa TinyCAE INT8 trên phần cứng ESP32-CAM.</a:t>
            </a:r>
            <a:br/>
            <a:r>
              <a:t>• Đo đạc thực tế, minh bạch và đối chứng khoa học với JPEG phần mềm khóa Q70.</a:t>
            </a:r>
            <a:br/>
            <a:r>
              <a:t>• Phân tích rõ ràng bài toán đánh đổi kỹ thuật (Trade-off) giữa Chất lượng, Kích thước gói và Thời gian tính toán.</a:t>
            </a:r>
          </a:p>
          <a:p>
            <a:br/>
            <a:br/>
            <a:pPr>
              <a:defRPr sz="1800" b="1">
                <a:solidFill>
                  <a:srgbClr val="FBBF24"/>
                </a:solidFill>
                <a:latin typeface="Segoe UI"/>
              </a:defRPr>
            </a:pPr>
            <a:r>
              <a:t>CHÂN THÀNH CẢM ƠN THẦY HỒ NHỰT MINH VÀ HỘI ĐỒNG ĐÁNH GIÁ!</a:t>
            </a:r>
            <a:br/>
            <a:r>
              <a:t>Q &amp; A — HỎI VÀ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