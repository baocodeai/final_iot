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Segoe UI Bold" charset="1" panose="020B0802040204020203"/>
      <p:regular r:id="rId22"/>
    </p:embeddedFont>
    <p:embeddedFont>
      <p:font typeface="Segoe UI" charset="1" panose="020B0502040204020203"/>
      <p:regular r:id="rId23"/>
    </p:embeddedFont>
    <p:embeddedFont>
      <p:font typeface="Calibri (MS) Bold" charset="1" panose="020F0702030404030204"/>
      <p:regular r:id="rId24"/>
    </p:embeddedFont>
    <p:embeddedFont>
      <p:font typeface="Calibri (MS)" charset="1" panose="020F0502020204030204"/>
      <p:regular r:id="rId25"/>
    </p:embeddedFont>
    <p:embeddedFont>
      <p:font typeface="Calibri (MS) Italics" charset="1" panose="020F05020202040A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grpSp>
        <p:nvGrpSpPr>
          <p:cNvPr name="Group 4" id="4"/>
          <p:cNvGrpSpPr/>
          <p:nvPr/>
        </p:nvGrpSpPr>
        <p:grpSpPr>
          <a:xfrm rot="0">
            <a:off x="1632909" y="1632909"/>
            <a:ext cx="15036022" cy="7029231"/>
            <a:chOff x="0" y="0"/>
            <a:chExt cx="20048030" cy="9372308"/>
          </a:xfrm>
        </p:grpSpPr>
        <p:sp>
          <p:nvSpPr>
            <p:cNvPr name="Freeform 5" id="5"/>
            <p:cNvSpPr/>
            <p:nvPr/>
          </p:nvSpPr>
          <p:spPr>
            <a:xfrm flipH="false" flipV="false" rot="0">
              <a:off x="0" y="0"/>
              <a:ext cx="20048093" cy="9372346"/>
            </a:xfrm>
            <a:custGeom>
              <a:avLst/>
              <a:gdLst/>
              <a:ahLst/>
              <a:cxnLst/>
              <a:rect r="r" b="b" t="t" l="l"/>
              <a:pathLst>
                <a:path h="9372346" w="20048093">
                  <a:moveTo>
                    <a:pt x="0" y="1562100"/>
                  </a:moveTo>
                  <a:cubicBezTo>
                    <a:pt x="0" y="699389"/>
                    <a:pt x="699389" y="0"/>
                    <a:pt x="1562100" y="0"/>
                  </a:cubicBezTo>
                  <a:lnTo>
                    <a:pt x="18485993" y="0"/>
                  </a:lnTo>
                  <a:cubicBezTo>
                    <a:pt x="19348704" y="0"/>
                    <a:pt x="20048093" y="699389"/>
                    <a:pt x="20048093" y="1562100"/>
                  </a:cubicBezTo>
                  <a:lnTo>
                    <a:pt x="20048093" y="7810246"/>
                  </a:lnTo>
                  <a:cubicBezTo>
                    <a:pt x="20048093" y="8672957"/>
                    <a:pt x="19348704" y="9372346"/>
                    <a:pt x="18485993" y="9372346"/>
                  </a:cubicBezTo>
                  <a:lnTo>
                    <a:pt x="1562100" y="9372346"/>
                  </a:lnTo>
                  <a:cubicBezTo>
                    <a:pt x="699389" y="9372346"/>
                    <a:pt x="0" y="8672957"/>
                    <a:pt x="0" y="7810246"/>
                  </a:cubicBezTo>
                  <a:close/>
                </a:path>
              </a:pathLst>
            </a:custGeom>
            <a:solidFill>
              <a:srgbClr val="0F172A"/>
            </a:solidFill>
            <a:ln w="28597" cap="sq">
              <a:solidFill>
                <a:srgbClr val="60A5FA"/>
              </a:solidFill>
              <a:prstDash val="solid"/>
              <a:miter/>
            </a:ln>
          </p:spPr>
        </p:sp>
      </p:grpSp>
      <p:sp>
        <p:nvSpPr>
          <p:cNvPr name="TextBox 6" id="6"/>
          <p:cNvSpPr txBox="true"/>
          <p:nvPr/>
        </p:nvSpPr>
        <p:spPr>
          <a:xfrm rot="0">
            <a:off x="2562254" y="2241994"/>
            <a:ext cx="13177342" cy="5811050"/>
          </a:xfrm>
          <a:prstGeom prst="rect">
            <a:avLst/>
          </a:prstGeom>
        </p:spPr>
        <p:txBody>
          <a:bodyPr anchor="t" rtlCol="false" tIns="0" lIns="0" bIns="0" rIns="0">
            <a:spAutoFit/>
          </a:bodyPr>
          <a:lstStyle/>
          <a:p>
            <a:pPr algn="l">
              <a:lnSpc>
                <a:spcPts val="2161"/>
              </a:lnSpc>
            </a:pPr>
            <a:r>
              <a:rPr lang="en-US" sz="1801" b="true">
                <a:solidFill>
                  <a:srgbClr val="38BDF8"/>
                </a:solidFill>
                <a:latin typeface="Segoe UI Bold"/>
                <a:ea typeface="Segoe UI Bold"/>
                <a:cs typeface="Segoe UI Bold"/>
                <a:sym typeface="Segoe UI Bold"/>
              </a:rPr>
              <a:t>TRƯỜNG ĐẠI HỌC CÔNG NGHỆ KỸ THUẬT TP. HỒ CHÍ MINH</a:t>
            </a:r>
          </a:p>
          <a:p>
            <a:pPr algn="l">
              <a:lnSpc>
                <a:spcPts val="2161"/>
              </a:lnSpc>
            </a:pPr>
            <a:r>
              <a:rPr lang="en-US" sz="1801" b="true">
                <a:solidFill>
                  <a:srgbClr val="38BDF8"/>
                </a:solidFill>
                <a:latin typeface="Segoe UI Bold"/>
                <a:ea typeface="Segoe UI Bold"/>
                <a:cs typeface="Segoe UI Bold"/>
                <a:sym typeface="Segoe UI Bold"/>
              </a:rPr>
              <a:t>KHOA CÔNG NGHỆ THÔNG TIN</a:t>
            </a:r>
          </a:p>
          <a:p>
            <a:pPr algn="l">
              <a:lnSpc>
                <a:spcPts val="2521"/>
              </a:lnSpc>
            </a:pPr>
          </a:p>
          <a:p>
            <a:pPr algn="l">
              <a:lnSpc>
                <a:spcPts val="2521"/>
              </a:lnSpc>
            </a:pPr>
            <a:r>
              <a:rPr lang="en-US" sz="2101" b="true">
                <a:solidFill>
                  <a:srgbClr val="FBBF24"/>
                </a:solidFill>
                <a:latin typeface="Segoe UI Bold"/>
                <a:ea typeface="Segoe UI Bold"/>
                <a:cs typeface="Segoe UI Bold"/>
                <a:sym typeface="Segoe UI Bold"/>
              </a:rPr>
              <a:t>BÁO CÁO NGHIỆM THU ĐỀ TÀI TIỂU LUẬN</a:t>
            </a:r>
          </a:p>
          <a:p>
            <a:pPr algn="l">
              <a:lnSpc>
                <a:spcPts val="3963"/>
              </a:lnSpc>
            </a:pPr>
            <a:r>
              <a:rPr lang="en-US" sz="3302" b="true">
                <a:solidFill>
                  <a:srgbClr val="F8FAFC"/>
                </a:solidFill>
                <a:latin typeface="Segoe UI Bold"/>
                <a:ea typeface="Segoe UI Bold"/>
                <a:cs typeface="Segoe UI Bold"/>
                <a:sym typeface="Segoe UI Bold"/>
              </a:rPr>
              <a:t>TRIỂN KHAI VÀ ĐÁNH GIÁ BỘ MÃ HÓA TINYCAE LƯỢNG TỬ HÓA INT8 CHO NÉN ẢNH TRÊN ESP32</a:t>
            </a:r>
          </a:p>
          <a:p>
            <a:pPr algn="l">
              <a:lnSpc>
                <a:spcPts val="2702"/>
              </a:lnSpc>
            </a:pPr>
            <a:r>
              <a:rPr lang="en-US" sz="2251" i="true">
                <a:solidFill>
                  <a:srgbClr val="60A5FA"/>
                </a:solidFill>
                <a:latin typeface="Segoe UI"/>
                <a:ea typeface="Segoe UI"/>
                <a:cs typeface="Segoe UI"/>
                <a:sym typeface="Segoe UI"/>
              </a:rPr>
              <a:t>Đối chứng với bộ mã hóa JPEG phần mềm trên cùng thiết bị phần cứng</a:t>
            </a:r>
          </a:p>
          <a:p>
            <a:pPr algn="l">
              <a:lnSpc>
                <a:spcPts val="2161"/>
              </a:lnSpc>
            </a:pPr>
          </a:p>
          <a:p>
            <a:pPr algn="l">
              <a:lnSpc>
                <a:spcPts val="2161"/>
              </a:lnSpc>
            </a:pPr>
            <a:r>
              <a:rPr lang="en-US" sz="1801">
                <a:solidFill>
                  <a:srgbClr val="94A3B8"/>
                </a:solidFill>
                <a:latin typeface="Segoe UI"/>
                <a:ea typeface="Segoe UI"/>
                <a:cs typeface="Segoe UI"/>
                <a:sym typeface="Segoe UI"/>
              </a:rPr>
              <a:t>• Sinh viên thực hiện: NGUYỄN VŨ BẢO — MSSV: 23110079 (Lớp: 261AIOT331185_01CLC)</a:t>
            </a:r>
          </a:p>
          <a:p>
            <a:pPr algn="l">
              <a:lnSpc>
                <a:spcPts val="2161"/>
              </a:lnSpc>
            </a:pPr>
            <a:r>
              <a:rPr lang="en-US" sz="1801">
                <a:solidFill>
                  <a:srgbClr val="94A3B8"/>
                </a:solidFill>
                <a:latin typeface="Segoe UI"/>
                <a:ea typeface="Segoe UI"/>
                <a:cs typeface="Segoe UI"/>
                <a:sym typeface="Segoe UI"/>
              </a:rPr>
              <a:t>• Giảng viên hướng dẫn: Thầy HỒ NHỰT MINH</a:t>
            </a:r>
          </a:p>
          <a:p>
            <a:pPr algn="l">
              <a:lnSpc>
                <a:spcPts val="2161"/>
              </a:lnSpc>
            </a:pPr>
            <a:r>
              <a:rPr lang="en-US" sz="1801">
                <a:solidFill>
                  <a:srgbClr val="94A3B8"/>
                </a:solidFill>
                <a:latin typeface="Segoe UI"/>
                <a:ea typeface="Segoe UI"/>
                <a:cs typeface="Segoe UI"/>
                <a:sym typeface="Segoe UI"/>
              </a:rPr>
              <a:t>• Thời gian thực nghiệm: Tháng 09/2026</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 Đặt Vấn Đề &amp; Tính Cấp Thiết Trong Edge IoT</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52963"/>
            <a:ext cx="6680483" cy="6123689"/>
          </a:xfrm>
          <a:prstGeom prst="rect">
            <a:avLst/>
          </a:prstGeom>
        </p:spPr>
        <p:txBody>
          <a:bodyPr anchor="t" rtlCol="false" tIns="0" lIns="0" bIns="0" rIns="0">
            <a:spAutoFit/>
          </a:bodyPr>
          <a:lstStyle/>
          <a:p>
            <a:pPr algn="l">
              <a:lnSpc>
                <a:spcPts val="2882"/>
              </a:lnSpc>
            </a:pPr>
            <a:r>
              <a:rPr lang="en-US" sz="2401" b="true">
                <a:solidFill>
                  <a:srgbClr val="38BDF8"/>
                </a:solidFill>
                <a:latin typeface="Calibri (MS) Bold"/>
                <a:ea typeface="Calibri (MS) Bold"/>
                <a:cs typeface="Calibri (MS) Bold"/>
                <a:sym typeface="Calibri (MS) Bold"/>
              </a:rPr>
              <a:t>Thách Thức Nén Ảnh Trên Thiết Bị Biên IoT</a:t>
            </a:r>
          </a:p>
          <a:p>
            <a:pPr algn="l">
              <a:lnSpc>
                <a:spcPts val="2161"/>
              </a:lnSpc>
            </a:pPr>
          </a:p>
          <a:p>
            <a:pPr algn="l">
              <a:lnSpc>
                <a:spcPts val="2161"/>
              </a:lnSpc>
            </a:pPr>
            <a:r>
              <a:rPr lang="en-US" sz="1801">
                <a:solidFill>
                  <a:srgbClr val="F8FAFC"/>
                </a:solidFill>
                <a:latin typeface="Calibri (MS)"/>
                <a:ea typeface="Calibri (MS)"/>
                <a:cs typeface="Calibri (MS)"/>
                <a:sym typeface="Calibri (MS)"/>
              </a:rPr>
              <a:t>• Băng thông hẹp &amp; Năng lượng pin: Các mạng LPWAN (LoRaWAN, NB-IoT) và BLE có tốc độ truyền thấp. Giảm kích thước gói truyền là ưu tiên số 1 để tiết kiệm pin.</a:t>
            </a:r>
          </a:p>
          <a:p>
            <a:pPr algn="l">
              <a:lnSpc>
                <a:spcPts val="2161"/>
              </a:lnSpc>
            </a:pPr>
          </a:p>
          <a:p>
            <a:pPr algn="l">
              <a:lnSpc>
                <a:spcPts val="2161"/>
              </a:lnSpc>
            </a:pPr>
            <a:r>
              <a:rPr lang="en-US" sz="1801">
                <a:solidFill>
                  <a:srgbClr val="F8FAFC"/>
                </a:solidFill>
                <a:latin typeface="Calibri (MS)"/>
                <a:ea typeface="Calibri (MS)"/>
                <a:cs typeface="Calibri (MS)"/>
                <a:sym typeface="Calibri (MS)"/>
              </a:rPr>
              <a:t>• Hạn chế tài nguyên vi điều khiển: ESP32 có bộ nhớ SRAM hạn hẹp (&lt; 328 KB free heap), không thể chạy các mô hình AI thị giác cồng kềnh.</a:t>
            </a:r>
          </a:p>
          <a:p>
            <a:pPr algn="l">
              <a:lnSpc>
                <a:spcPts val="2161"/>
              </a:lnSpc>
            </a:pPr>
          </a:p>
          <a:p>
            <a:pPr algn="l">
              <a:lnSpc>
                <a:spcPts val="2161"/>
              </a:lnSpc>
            </a:pPr>
            <a:r>
              <a:rPr lang="en-US" sz="1801">
                <a:solidFill>
                  <a:srgbClr val="F8FAFC"/>
                </a:solidFill>
                <a:latin typeface="Calibri (MS)"/>
                <a:ea typeface="Calibri (MS)"/>
                <a:cs typeface="Calibri (MS)"/>
                <a:sym typeface="Calibri (MS)"/>
              </a:rPr>
              <a:t>• Hiện tượng Blocking Artifact của JPEG: Ở bitrate thấp và ảnh độ phân giải nhỏ, JPEG phân khối 8x8 tạo ra các vết răng cưa lưới gây biến dạng hình ảnh nghiêm trọng.</a:t>
            </a:r>
          </a:p>
        </p:txBody>
      </p:sp>
      <p:grpSp>
        <p:nvGrpSpPr>
          <p:cNvPr name="Group 8" id="8"/>
          <p:cNvGrpSpPr/>
          <p:nvPr/>
        </p:nvGrpSpPr>
        <p:grpSpPr>
          <a:xfrm rot="0">
            <a:off x="9319870" y="2456507"/>
            <a:ext cx="7852829" cy="6891957"/>
            <a:chOff x="0" y="0"/>
            <a:chExt cx="10470439" cy="9189276"/>
          </a:xfrm>
        </p:grpSpPr>
        <p:sp>
          <p:nvSpPr>
            <p:cNvPr name="Freeform 9" id="9"/>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10" id="10"/>
          <p:cNvSpPr txBox="true"/>
          <p:nvPr/>
        </p:nvSpPr>
        <p:spPr>
          <a:xfrm rot="0">
            <a:off x="9837410" y="2752963"/>
            <a:ext cx="6817747" cy="6123689"/>
          </a:xfrm>
          <a:prstGeom prst="rect">
            <a:avLst/>
          </a:prstGeom>
        </p:spPr>
        <p:txBody>
          <a:bodyPr anchor="t" rtlCol="false" tIns="0" lIns="0" bIns="0" rIns="0">
            <a:spAutoFit/>
          </a:bodyPr>
          <a:lstStyle/>
          <a:p>
            <a:pPr algn="l">
              <a:lnSpc>
                <a:spcPts val="2882"/>
              </a:lnSpc>
            </a:pPr>
            <a:r>
              <a:rPr lang="en-US" sz="2401" b="true">
                <a:solidFill>
                  <a:srgbClr val="34D399"/>
                </a:solidFill>
                <a:latin typeface="Calibri (MS) Bold"/>
                <a:ea typeface="Calibri (MS) Bold"/>
                <a:cs typeface="Calibri (MS) Bold"/>
                <a:sym typeface="Calibri (MS) Bold"/>
              </a:rPr>
              <a:t>Mục Tiêu &amp; Đóng Góp Nghiên Cứu</a:t>
            </a:r>
          </a:p>
          <a:p>
            <a:pPr algn="l">
              <a:lnSpc>
                <a:spcPts val="2161"/>
              </a:lnSpc>
            </a:pPr>
          </a:p>
          <a:p>
            <a:pPr algn="l">
              <a:lnSpc>
                <a:spcPts val="2161"/>
              </a:lnSpc>
            </a:pPr>
            <a:r>
              <a:rPr lang="en-US" sz="1801">
                <a:solidFill>
                  <a:srgbClr val="F8FAFC"/>
                </a:solidFill>
                <a:latin typeface="Calibri (MS)"/>
                <a:ea typeface="Calibri (MS)"/>
                <a:cs typeface="Calibri (MS)"/>
                <a:sym typeface="Calibri (MS)"/>
              </a:rPr>
              <a:t>• Mã hóa Deep Learning siêu nhẹ (TinyCAE): Xây dựng Encoder tích chập chỉ 2.800 tham số, lượng tử hóa INT8 chạy trực tiếp trên ESP32 thông qua TFLite Micro.</a:t>
            </a:r>
          </a:p>
          <a:p>
            <a:pPr algn="l">
              <a:lnSpc>
                <a:spcPts val="2161"/>
              </a:lnSpc>
            </a:pPr>
          </a:p>
          <a:p>
            <a:pPr algn="l">
              <a:lnSpc>
                <a:spcPts val="2161"/>
              </a:lnSpc>
            </a:pPr>
            <a:r>
              <a:rPr lang="en-US" sz="1801">
                <a:solidFill>
                  <a:srgbClr val="F8FAFC"/>
                </a:solidFill>
                <a:latin typeface="Calibri (MS)"/>
                <a:ea typeface="Calibri (MS)"/>
                <a:cs typeface="Calibri (MS)"/>
                <a:sym typeface="Calibri (MS)"/>
              </a:rPr>
              <a:t>• Đối chứng công bằng với JPEG phần mềm: Triển khai JPEG phần mềm (esp_new_jpeg) trên chính con chip ESP32 đó với cùng ranh giới đo đạc.</a:t>
            </a:r>
          </a:p>
          <a:p>
            <a:pPr algn="l">
              <a:lnSpc>
                <a:spcPts val="2161"/>
              </a:lnSpc>
            </a:pPr>
          </a:p>
          <a:p>
            <a:pPr algn="l">
              <a:lnSpc>
                <a:spcPts val="2161"/>
              </a:lnSpc>
            </a:pPr>
            <a:r>
              <a:rPr lang="en-US" sz="1801">
                <a:solidFill>
                  <a:srgbClr val="F8FAFC"/>
                </a:solidFill>
                <a:latin typeface="Calibri (MS)"/>
                <a:ea typeface="Calibri (MS)"/>
                <a:cs typeface="Calibri (MS)"/>
                <a:sym typeface="Calibri (MS)"/>
              </a:rPr>
              <a:t>• Khóa siêu tham số độc lập: Khóa chất lượng JPEG Q=70 trên tập validation bitrate riêng biệt (500 ảnh) để so sánh khách quan với TinyCAE (8.00 bpp).</a:t>
            </a:r>
          </a:p>
          <a:p>
            <a:pPr algn="l">
              <a:lnSpc>
                <a:spcPts val="2161"/>
              </a:lnSpc>
            </a:pPr>
          </a:p>
          <a:p>
            <a:pPr algn="l">
              <a:lnSpc>
                <a:spcPts val="2161"/>
              </a:lnSpc>
            </a:pPr>
            <a:r>
              <a:rPr lang="en-US" sz="1801">
                <a:solidFill>
                  <a:srgbClr val="F8FAFC"/>
                </a:solidFill>
                <a:latin typeface="Calibri (MS)"/>
                <a:ea typeface="Calibri (MS)"/>
                <a:cs typeface="Calibri (MS)"/>
                <a:sym typeface="Calibri (MS)"/>
              </a:rPr>
              <a:t>• Xác thực thực nghiệm nghiêm ngặt: Đo đạc 5 warmup + 30 repeat, kiểm tra sai số số học, đo bộ nhớ heap/PSRAM và đánh giá toàn diện Trade-off.</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2. Kiến Trúc Hệ Thống Bất Đối Xứng (Asymmetric Framework)</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6680483" cy="6142739"/>
          </a:xfrm>
          <a:prstGeom prst="rect">
            <a:avLst/>
          </a:prstGeom>
        </p:spPr>
        <p:txBody>
          <a:bodyPr anchor="t" rtlCol="false" tIns="0" lIns="0" bIns="0" rIns="0">
            <a:spAutoFit/>
          </a:bodyPr>
          <a:lstStyle/>
          <a:p>
            <a:pPr algn="l">
              <a:lnSpc>
                <a:spcPts val="2702"/>
              </a:lnSpc>
            </a:pPr>
            <a:r>
              <a:rPr lang="en-US" sz="2251" b="true">
                <a:solidFill>
                  <a:srgbClr val="60A5FA"/>
                </a:solidFill>
                <a:latin typeface="Calibri (MS) Bold"/>
                <a:ea typeface="Calibri (MS) Bold"/>
                <a:cs typeface="Calibri (MS) Bold"/>
                <a:sym typeface="Calibri (MS) Bold"/>
              </a:rPr>
              <a:t>Pipeline 1: TinyCAE INT8 (Edge-to-Cloud)</a:t>
            </a:r>
          </a:p>
          <a:p>
            <a:pPr algn="l">
              <a:lnSpc>
                <a:spcPts val="2161"/>
              </a:lnSpc>
            </a:pPr>
          </a:p>
          <a:p>
            <a:pPr algn="l">
              <a:lnSpc>
                <a:spcPts val="2161"/>
              </a:lnSpc>
            </a:pPr>
            <a:r>
              <a:rPr lang="en-US" sz="1801">
                <a:solidFill>
                  <a:srgbClr val="F8FAFC"/>
                </a:solidFill>
                <a:latin typeface="Calibri (MS)"/>
                <a:ea typeface="Calibri (MS)"/>
                <a:cs typeface="Calibri (MS)"/>
                <a:sym typeface="Calibri (MS)"/>
              </a:rPr>
              <a:t>1. Host PC nạp ảnh RGB888 (32 × 32 × 3 = 3.072 Bytes).</a:t>
            </a:r>
          </a:p>
          <a:p>
            <a:pPr algn="l">
              <a:lnSpc>
                <a:spcPts val="2161"/>
              </a:lnSpc>
            </a:pPr>
          </a:p>
          <a:p>
            <a:pPr algn="l">
              <a:lnSpc>
                <a:spcPts val="2161"/>
              </a:lnSpc>
            </a:pPr>
            <a:r>
              <a:rPr lang="en-US" sz="1801">
                <a:solidFill>
                  <a:srgbClr val="F8FAFC"/>
                </a:solidFill>
                <a:latin typeface="Calibri (MS)"/>
                <a:ea typeface="Calibri (MS)"/>
                <a:cs typeface="Calibri (MS)"/>
                <a:sym typeface="Calibri (MS)"/>
              </a:rPr>
              <a:t>2. Truyền qua UART COM5 xuống ESP32 kèm mã băm CRC-32.</a:t>
            </a:r>
          </a:p>
          <a:p>
            <a:pPr algn="l">
              <a:lnSpc>
                <a:spcPts val="2161"/>
              </a:lnSpc>
            </a:pPr>
          </a:p>
          <a:p>
            <a:pPr algn="l">
              <a:lnSpc>
                <a:spcPts val="2161"/>
              </a:lnSpc>
            </a:pPr>
            <a:r>
              <a:rPr lang="en-US" sz="1801">
                <a:solidFill>
                  <a:srgbClr val="F8FAFC"/>
                </a:solidFill>
                <a:latin typeface="Calibri (MS)"/>
                <a:ea typeface="Calibri (MS)"/>
                <a:cs typeface="Calibri (MS)"/>
                <a:sym typeface="Calibri (MS)"/>
              </a:rPr>
              <a:t>3. ESP32 thực thi TinyCAE Encoder INT8 (Tensor Arena 128 KB PSRAM).</a:t>
            </a:r>
          </a:p>
          <a:p>
            <a:pPr algn="l">
              <a:lnSpc>
                <a:spcPts val="2161"/>
              </a:lnSpc>
            </a:pPr>
          </a:p>
          <a:p>
            <a:pPr algn="l">
              <a:lnSpc>
                <a:spcPts val="2161"/>
              </a:lnSpc>
            </a:pPr>
            <a:r>
              <a:rPr lang="en-US" sz="1801">
                <a:solidFill>
                  <a:srgbClr val="F8FAFC"/>
                </a:solidFill>
                <a:latin typeface="Calibri (MS)"/>
                <a:ea typeface="Calibri (MS)"/>
                <a:cs typeface="Calibri (MS)"/>
                <a:sym typeface="Calibri (MS)"/>
              </a:rPr>
              <a:t>4. Sinh ra Latent vector cố định: 8 × 8 × 16 = 1.024 Bytes INT8 (8.00 bpp).</a:t>
            </a:r>
          </a:p>
          <a:p>
            <a:pPr algn="l">
              <a:lnSpc>
                <a:spcPts val="2161"/>
              </a:lnSpc>
            </a:pPr>
          </a:p>
          <a:p>
            <a:pPr algn="l">
              <a:lnSpc>
                <a:spcPts val="2161"/>
              </a:lnSpc>
            </a:pPr>
            <a:r>
              <a:rPr lang="en-US" sz="1801">
                <a:solidFill>
                  <a:srgbClr val="F8FAFC"/>
                </a:solidFill>
                <a:latin typeface="Calibri (MS)"/>
                <a:ea typeface="Calibri (MS)"/>
                <a:cs typeface="Calibri (MS)"/>
                <a:sym typeface="Calibri (MS)"/>
              </a:rPr>
              <a:t>5. ESP32 gửi ngược Latent 1.024 Bytes về Host PC qua UART.</a:t>
            </a:r>
          </a:p>
          <a:p>
            <a:pPr algn="l">
              <a:lnSpc>
                <a:spcPts val="2161"/>
              </a:lnSpc>
            </a:pPr>
          </a:p>
          <a:p>
            <a:pPr algn="l">
              <a:lnSpc>
                <a:spcPts val="2161"/>
              </a:lnSpc>
            </a:pPr>
            <a:r>
              <a:rPr lang="en-US" sz="1801">
                <a:solidFill>
                  <a:srgbClr val="F8FAFC"/>
                </a:solidFill>
                <a:latin typeface="Calibri (MS)"/>
                <a:ea typeface="Calibri (MS)"/>
                <a:cs typeface="Calibri (MS)"/>
                <a:sym typeface="Calibri (MS)"/>
              </a:rPr>
              <a:t>6. Host PC dùng Decoder FP32 (Keras) giải mã ảnh tái tạo x̂.</a:t>
            </a:r>
          </a:p>
        </p:txBody>
      </p:sp>
      <p:grpSp>
        <p:nvGrpSpPr>
          <p:cNvPr name="Group 8" id="8"/>
          <p:cNvGrpSpPr/>
          <p:nvPr/>
        </p:nvGrpSpPr>
        <p:grpSpPr>
          <a:xfrm rot="0">
            <a:off x="9319870" y="2456507"/>
            <a:ext cx="7852829" cy="6891957"/>
            <a:chOff x="0" y="0"/>
            <a:chExt cx="10470439" cy="9189276"/>
          </a:xfrm>
        </p:grpSpPr>
        <p:sp>
          <p:nvSpPr>
            <p:cNvPr name="Freeform 9" id="9"/>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10" id="10"/>
          <p:cNvSpPr txBox="true"/>
          <p:nvPr/>
        </p:nvSpPr>
        <p:spPr>
          <a:xfrm rot="0">
            <a:off x="9837410" y="2733913"/>
            <a:ext cx="6817747" cy="6142739"/>
          </a:xfrm>
          <a:prstGeom prst="rect">
            <a:avLst/>
          </a:prstGeom>
        </p:spPr>
        <p:txBody>
          <a:bodyPr anchor="t" rtlCol="false" tIns="0" lIns="0" bIns="0" rIns="0">
            <a:spAutoFit/>
          </a:bodyPr>
          <a:lstStyle/>
          <a:p>
            <a:pPr algn="l">
              <a:lnSpc>
                <a:spcPts val="2702"/>
              </a:lnSpc>
            </a:pPr>
            <a:r>
              <a:rPr lang="en-US" sz="2251" b="true">
                <a:solidFill>
                  <a:srgbClr val="38BDF8"/>
                </a:solidFill>
                <a:latin typeface="Calibri (MS) Bold"/>
                <a:ea typeface="Calibri (MS) Bold"/>
                <a:cs typeface="Calibri (MS) Bold"/>
                <a:sym typeface="Calibri (MS) Bold"/>
              </a:rPr>
              <a:t>Pipeline 2: JPEG Software (Baseline Đối Chứng)</a:t>
            </a:r>
          </a:p>
          <a:p>
            <a:pPr algn="l">
              <a:lnSpc>
                <a:spcPts val="2161"/>
              </a:lnSpc>
            </a:pPr>
          </a:p>
          <a:p>
            <a:pPr algn="l">
              <a:lnSpc>
                <a:spcPts val="2161"/>
              </a:lnSpc>
            </a:pPr>
            <a:r>
              <a:rPr lang="en-US" sz="1801">
                <a:solidFill>
                  <a:srgbClr val="F8FAFC"/>
                </a:solidFill>
                <a:latin typeface="Calibri (MS)"/>
                <a:ea typeface="Calibri (MS)"/>
                <a:cs typeface="Calibri (MS)"/>
                <a:sym typeface="Calibri (MS)"/>
              </a:rPr>
              <a:t>1. Host PC gửi cùng ảnh 3.072 Bytes xuống cùng bo ESP32.</a:t>
            </a:r>
          </a:p>
          <a:p>
            <a:pPr algn="l">
              <a:lnSpc>
                <a:spcPts val="2161"/>
              </a:lnSpc>
            </a:pPr>
          </a:p>
          <a:p>
            <a:pPr algn="l">
              <a:lnSpc>
                <a:spcPts val="2161"/>
              </a:lnSpc>
            </a:pPr>
            <a:r>
              <a:rPr lang="en-US" sz="1801">
                <a:solidFill>
                  <a:srgbClr val="F8FAFC"/>
                </a:solidFill>
                <a:latin typeface="Calibri (MS)"/>
                <a:ea typeface="Calibri (MS)"/>
                <a:cs typeface="Calibri (MS)"/>
                <a:sym typeface="Calibri (MS)"/>
              </a:rPr>
              <a:t>2. ESP32 dùng thư viện esp_new_jpeg v1.0.2 mã hóa DCT.</a:t>
            </a:r>
          </a:p>
          <a:p>
            <a:pPr algn="l">
              <a:lnSpc>
                <a:spcPts val="2161"/>
              </a:lnSpc>
            </a:pPr>
          </a:p>
          <a:p>
            <a:pPr algn="l">
              <a:lnSpc>
                <a:spcPts val="2161"/>
              </a:lnSpc>
            </a:pPr>
            <a:r>
              <a:rPr lang="en-US" sz="1801">
                <a:solidFill>
                  <a:srgbClr val="F8FAFC"/>
                </a:solidFill>
                <a:latin typeface="Calibri (MS)"/>
                <a:ea typeface="Calibri (MS)"/>
                <a:cs typeface="Calibri (MS)"/>
                <a:sym typeface="Calibri (MS)"/>
              </a:rPr>
              <a:t>3. Mức chất lượng cố định Q = 70 (khóa từ tập validation).</a:t>
            </a:r>
          </a:p>
          <a:p>
            <a:pPr algn="l">
              <a:lnSpc>
                <a:spcPts val="2161"/>
              </a:lnSpc>
            </a:pPr>
          </a:p>
          <a:p>
            <a:pPr algn="l">
              <a:lnSpc>
                <a:spcPts val="2161"/>
              </a:lnSpc>
            </a:pPr>
            <a:r>
              <a:rPr lang="en-US" sz="1801">
                <a:solidFill>
                  <a:srgbClr val="F8FAFC"/>
                </a:solidFill>
                <a:latin typeface="Calibri (MS)"/>
                <a:ea typeface="Calibri (MS)"/>
                <a:cs typeface="Calibri (MS)"/>
                <a:sym typeface="Calibri (MS)"/>
              </a:rPr>
              <a:t>4. Sinh ra dòng bitstream JPEG chuẩn (~968 Bytes trung bình).</a:t>
            </a:r>
          </a:p>
          <a:p>
            <a:pPr algn="l">
              <a:lnSpc>
                <a:spcPts val="2161"/>
              </a:lnSpc>
            </a:pPr>
          </a:p>
          <a:p>
            <a:pPr algn="l">
              <a:lnSpc>
                <a:spcPts val="2161"/>
              </a:lnSpc>
            </a:pPr>
            <a:r>
              <a:rPr lang="en-US" sz="1801">
                <a:solidFill>
                  <a:srgbClr val="F8FAFC"/>
                </a:solidFill>
                <a:latin typeface="Calibri (MS)"/>
                <a:ea typeface="Calibri (MS)"/>
                <a:cs typeface="Calibri (MS)"/>
                <a:sym typeface="Calibri (MS)"/>
              </a:rPr>
              <a:t>5. ESP32 gửi dòng JPEG nhị phân về Host PC qua UART.</a:t>
            </a:r>
          </a:p>
          <a:p>
            <a:pPr algn="l">
              <a:lnSpc>
                <a:spcPts val="2161"/>
              </a:lnSpc>
            </a:pPr>
          </a:p>
          <a:p>
            <a:pPr algn="l">
              <a:lnSpc>
                <a:spcPts val="2161"/>
              </a:lnSpc>
            </a:pPr>
            <a:r>
              <a:rPr lang="en-US" sz="1801">
                <a:solidFill>
                  <a:srgbClr val="F8FAFC"/>
                </a:solidFill>
                <a:latin typeface="Calibri (MS)"/>
                <a:ea typeface="Calibri (MS)"/>
                <a:cs typeface="Calibri (MS)"/>
                <a:sym typeface="Calibri (MS)"/>
              </a:rPr>
              <a:t>6. Host PC giải mã bằng PIL.Image, tính toán PSNR và SSIM.</a:t>
            </a:r>
          </a:p>
          <a:p>
            <a:pPr algn="l">
              <a:lnSpc>
                <a:spcPts val="1981"/>
              </a:lnSpc>
            </a:pPr>
          </a:p>
          <a:p>
            <a:pPr algn="l">
              <a:lnSpc>
                <a:spcPts val="1981"/>
              </a:lnSpc>
            </a:pPr>
            <a:r>
              <a:rPr lang="en-US" sz="1651" i="true">
                <a:solidFill>
                  <a:srgbClr val="FBBF24"/>
                </a:solidFill>
                <a:latin typeface="Calibri (MS) Italics"/>
                <a:ea typeface="Calibri (MS) Italics"/>
                <a:cs typeface="Calibri (MS) Italics"/>
                <a:sym typeface="Calibri (MS) Italics"/>
              </a:rPr>
              <a:t>★ Ranh giới đo t_core: Chỉ đo thời gian thực thi mã hóa trên CPU ESP32 bằng esp_timer_get_time() (microsecond), loại trừ hoàn toàn độ trễ truyền UART.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3. Cấu Hình Phần Cứng Thực Nghiệm ESP32-CAM</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6680483" cy="6142739"/>
          </a:xfrm>
          <a:prstGeom prst="rect">
            <a:avLst/>
          </a:prstGeom>
        </p:spPr>
        <p:txBody>
          <a:bodyPr anchor="t" rtlCol="false" tIns="0" lIns="0" bIns="0" rIns="0">
            <a:spAutoFit/>
          </a:bodyPr>
          <a:lstStyle/>
          <a:p>
            <a:pPr algn="l">
              <a:lnSpc>
                <a:spcPts val="2702"/>
              </a:lnSpc>
            </a:pPr>
            <a:r>
              <a:rPr lang="en-US" sz="2251" b="true">
                <a:solidFill>
                  <a:srgbClr val="34D399"/>
                </a:solidFill>
                <a:latin typeface="Calibri (MS) Bold"/>
                <a:ea typeface="Calibri (MS) Bold"/>
                <a:cs typeface="Calibri (MS) Bold"/>
                <a:sym typeface="Calibri (MS) Bold"/>
              </a:rPr>
              <a:t>Thông Số Bo Mạch &amp; Vi Điều Khiển</a:t>
            </a:r>
          </a:p>
          <a:p>
            <a:pPr algn="l">
              <a:lnSpc>
                <a:spcPts val="2161"/>
              </a:lnSpc>
            </a:pPr>
            <a:r>
              <a:rPr lang="en-US" sz="1801">
                <a:solidFill>
                  <a:srgbClr val="F8FAFC"/>
                </a:solidFill>
                <a:latin typeface="Calibri (MS)"/>
                <a:ea typeface="Calibri (MS)"/>
                <a:cs typeface="Calibri (MS)"/>
                <a:sym typeface="Calibri (MS)"/>
              </a:rPr>
              <a:t>• Bo phát triển: AI-Thinker ESP32-CAM (Module ESP32-S).</a:t>
            </a:r>
          </a:p>
          <a:p>
            <a:pPr algn="l">
              <a:lnSpc>
                <a:spcPts val="2161"/>
              </a:lnSpc>
            </a:pPr>
            <a:r>
              <a:rPr lang="en-US" sz="1801">
                <a:solidFill>
                  <a:srgbClr val="F8FAFC"/>
                </a:solidFill>
                <a:latin typeface="Calibri (MS)"/>
                <a:ea typeface="Calibri (MS)"/>
                <a:cs typeface="Calibri (MS)"/>
                <a:sym typeface="Calibri (MS)"/>
              </a:rPr>
              <a:t>• CPU: Xtensa® Dual-core 32-bit LX6 @ 240 MHz.</a:t>
            </a:r>
          </a:p>
          <a:p>
            <a:pPr algn="l">
              <a:lnSpc>
                <a:spcPts val="2161"/>
              </a:lnSpc>
            </a:pPr>
            <a:r>
              <a:rPr lang="en-US" sz="1801">
                <a:solidFill>
                  <a:srgbClr val="F8FAFC"/>
                </a:solidFill>
                <a:latin typeface="Calibri (MS)"/>
                <a:ea typeface="Calibri (MS)"/>
                <a:cs typeface="Calibri (MS)"/>
                <a:sym typeface="Calibri (MS)"/>
              </a:rPr>
              <a:t>• Flash ngoài: 4 MB SPI Flash (DIO Mode, 40 MHz).</a:t>
            </a:r>
          </a:p>
          <a:p>
            <a:pPr algn="l">
              <a:lnSpc>
                <a:spcPts val="2161"/>
              </a:lnSpc>
            </a:pPr>
            <a:r>
              <a:rPr lang="en-US" sz="1801">
                <a:solidFill>
                  <a:srgbClr val="F8FAFC"/>
                </a:solidFill>
                <a:latin typeface="Calibri (MS)"/>
                <a:ea typeface="Calibri (MS)"/>
                <a:cs typeface="Calibri (MS)"/>
                <a:sym typeface="Calibri (MS)"/>
              </a:rPr>
              <a:t>• PSRAM ngoài: 8 MB vật lý (ESP-IDF ánh xạ 4 MB heap ảo).</a:t>
            </a:r>
          </a:p>
          <a:p>
            <a:pPr algn="l">
              <a:lnSpc>
                <a:spcPts val="2161"/>
              </a:lnSpc>
            </a:pPr>
            <a:r>
              <a:rPr lang="en-US" sz="1801">
                <a:solidFill>
                  <a:srgbClr val="F8FAFC"/>
                </a:solidFill>
                <a:latin typeface="Calibri (MS)"/>
                <a:ea typeface="Calibri (MS)"/>
                <a:cs typeface="Calibri (MS)"/>
                <a:sym typeface="Calibri (MS)"/>
              </a:rPr>
              <a:t>• Bộ nhớ SRAM nội: 520 KB (Khả dụng tự do ~287 KB).</a:t>
            </a:r>
          </a:p>
          <a:p>
            <a:pPr algn="l">
              <a:lnSpc>
                <a:spcPts val="2161"/>
              </a:lnSpc>
            </a:pPr>
            <a:r>
              <a:rPr lang="en-US" sz="1801">
                <a:solidFill>
                  <a:srgbClr val="F8FAFC"/>
                </a:solidFill>
                <a:latin typeface="Calibri (MS)"/>
                <a:ea typeface="Calibri (MS)"/>
                <a:cs typeface="Calibri (MS)"/>
                <a:sym typeface="Calibri (MS)"/>
              </a:rPr>
              <a:t>• Giao tiếp Host: FTDI FT232R USB-UART @ COM5, 115.200 baud.</a:t>
            </a:r>
          </a:p>
          <a:p>
            <a:pPr algn="l">
              <a:lnSpc>
                <a:spcPts val="2161"/>
              </a:lnSpc>
            </a:pPr>
            <a:r>
              <a:rPr lang="en-US" sz="1801">
                <a:solidFill>
                  <a:srgbClr val="F8FAFC"/>
                </a:solidFill>
                <a:latin typeface="Calibri (MS)"/>
                <a:ea typeface="Calibri (MS)"/>
                <a:cs typeface="Calibri (MS)"/>
                <a:sym typeface="Calibri (MS)"/>
              </a:rPr>
              <a:t>• Phần mềm lõi: ESP-IDF v5.5.5, FreeRTOS kernel.</a:t>
            </a:r>
          </a:p>
          <a:p>
            <a:pPr algn="l">
              <a:lnSpc>
                <a:spcPts val="2161"/>
              </a:lnSpc>
            </a:pPr>
            <a:r>
              <a:rPr lang="en-US" sz="1801">
                <a:solidFill>
                  <a:srgbClr val="F8FAFC"/>
                </a:solidFill>
                <a:latin typeface="Calibri (MS)"/>
                <a:ea typeface="Calibri (MS)"/>
                <a:cs typeface="Calibri (MS)"/>
                <a:sym typeface="Calibri (MS)"/>
              </a:rPr>
              <a:t>• Khung AI nhúng: esp-tflite-micro v1.4.x (tối ưu ESP-NN).</a:t>
            </a:r>
          </a:p>
        </p:txBody>
      </p:sp>
      <p:grpSp>
        <p:nvGrpSpPr>
          <p:cNvPr name="Group 8" id="8"/>
          <p:cNvGrpSpPr/>
          <p:nvPr/>
        </p:nvGrpSpPr>
        <p:grpSpPr>
          <a:xfrm rot="0">
            <a:off x="9319870" y="2456507"/>
            <a:ext cx="7852829" cy="6891957"/>
            <a:chOff x="0" y="0"/>
            <a:chExt cx="10470439" cy="9189276"/>
          </a:xfrm>
        </p:grpSpPr>
        <p:sp>
          <p:nvSpPr>
            <p:cNvPr name="Freeform 9" id="9"/>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grpSp>
        <p:nvGrpSpPr>
          <p:cNvPr name="Group 10" id="10"/>
          <p:cNvGrpSpPr/>
          <p:nvPr/>
        </p:nvGrpSpPr>
        <p:grpSpPr>
          <a:xfrm rot="0">
            <a:off x="9700146" y="2876988"/>
            <a:ext cx="7038878" cy="4855693"/>
            <a:chOff x="0" y="0"/>
            <a:chExt cx="9700222" cy="6691592"/>
          </a:xfrm>
        </p:grpSpPr>
        <p:sp>
          <p:nvSpPr>
            <p:cNvPr name="Freeform 11" id="11" descr="esp32_monitor_ready.png"/>
            <p:cNvSpPr/>
            <p:nvPr/>
          </p:nvSpPr>
          <p:spPr>
            <a:xfrm flipH="false" flipV="false" rot="0">
              <a:off x="0" y="0"/>
              <a:ext cx="9700260" cy="6691630"/>
            </a:xfrm>
            <a:custGeom>
              <a:avLst/>
              <a:gdLst/>
              <a:ahLst/>
              <a:cxnLst/>
              <a:rect r="r" b="b" t="t" l="l"/>
              <a:pathLst>
                <a:path h="6691630" w="9700260">
                  <a:moveTo>
                    <a:pt x="0" y="0"/>
                  </a:moveTo>
                  <a:lnTo>
                    <a:pt x="9700260" y="0"/>
                  </a:lnTo>
                  <a:lnTo>
                    <a:pt x="9700260" y="6691630"/>
                  </a:lnTo>
                  <a:lnTo>
                    <a:pt x="0" y="6691630"/>
                  </a:lnTo>
                  <a:lnTo>
                    <a:pt x="0" y="0"/>
                  </a:lnTo>
                  <a:close/>
                </a:path>
              </a:pathLst>
            </a:custGeom>
            <a:blipFill>
              <a:blip r:embed="rId2"/>
              <a:stretch>
                <a:fillRect l="0" t="0" r="0" b="0"/>
              </a:stretch>
            </a:blipFill>
          </p:spPr>
        </p:sp>
      </p:grpSp>
      <p:sp>
        <p:nvSpPr>
          <p:cNvPr name="TextBox 12" id="12"/>
          <p:cNvSpPr txBox="true"/>
          <p:nvPr/>
        </p:nvSpPr>
        <p:spPr>
          <a:xfrm rot="0">
            <a:off x="9700146" y="7704106"/>
            <a:ext cx="7092286" cy="1447076"/>
          </a:xfrm>
          <a:prstGeom prst="rect">
            <a:avLst/>
          </a:prstGeom>
        </p:spPr>
        <p:txBody>
          <a:bodyPr anchor="t" rtlCol="false" tIns="0" lIns="0" bIns="0" rIns="0">
            <a:spAutoFit/>
          </a:bodyPr>
          <a:lstStyle/>
          <a:p>
            <a:pPr algn="l">
              <a:lnSpc>
                <a:spcPts val="1981"/>
              </a:lnSpc>
            </a:pPr>
            <a:r>
              <a:rPr lang="en-US" sz="1651" b="true">
                <a:solidFill>
                  <a:srgbClr val="38BDF8"/>
                </a:solidFill>
                <a:latin typeface="Calibri (MS) Bold"/>
                <a:ea typeface="Calibri (MS) Bold"/>
                <a:cs typeface="Calibri (MS) Bold"/>
                <a:sym typeface="Calibri (MS) Bold"/>
              </a:rPr>
              <a:t>Minh chứng thực nghiệm khởi động ESP32:</a:t>
            </a:r>
          </a:p>
          <a:p>
            <a:pPr algn="l">
              <a:lnSpc>
                <a:spcPts val="1801"/>
              </a:lnSpc>
            </a:pPr>
            <a:r>
              <a:rPr lang="en-US" sz="1501">
                <a:solidFill>
                  <a:srgbClr val="94A3B8"/>
                </a:solidFill>
                <a:latin typeface="Calibri (MS)"/>
                <a:ea typeface="Calibri (MS)"/>
                <a:cs typeface="Calibri (MS)"/>
                <a:sym typeface="Calibri (MS)"/>
              </a:rPr>
              <a:t>Log monitor xác nhận cấp phát 128 KiB Tensor Arena trên PSRAM, JPEG buffer 8 KiB, sẵn sàng xử lý lệnh PING, TINYCAE, JPEG.</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4. Tập Dữ Liệu CIFAR-10 &amp; Phân Chia Phân Tầng (Stratified Split)</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38BDF8"/>
                </a:solidFill>
                <a:latin typeface="Calibri (MS) Bold"/>
                <a:ea typeface="Calibri (MS) Bold"/>
                <a:cs typeface="Calibri (MS) Bold"/>
                <a:sym typeface="Calibri (MS) Bold"/>
              </a:rPr>
              <a:t>Chiến Lược Phân Chia Cố Định Seed 2026 Đảm Bảo Tính Tái Lập Tuyệt Đối</a:t>
            </a:r>
          </a:p>
          <a:p>
            <a:pPr algn="l">
              <a:lnSpc>
                <a:spcPts val="2161"/>
              </a:lnSpc>
            </a:pPr>
            <a:r>
              <a:rPr lang="en-US" sz="1801">
                <a:solidFill>
                  <a:srgbClr val="F8FAFC"/>
                </a:solidFill>
                <a:latin typeface="Calibri (MS)"/>
                <a:ea typeface="Calibri (MS)"/>
                <a:cs typeface="Calibri (MS)"/>
                <a:sym typeface="Calibri (MS)"/>
              </a:rPr>
              <a:t>Để khắc phục triệt để hiện tượng rò rỉ dữ liệu (data leakage) và đảm bảo tính đại diện đồng đều trên 10 lớp đối tượng, toàn bộ 60.000 ảnh CIFAR-10 được phân chia phân tầng:</a:t>
            </a:r>
          </a:p>
        </p:txBody>
      </p:sp>
      <p:graphicFrame>
        <p:nvGraphicFramePr>
          <p:cNvPr name="Table 8" id="8"/>
          <p:cNvGraphicFramePr>
            <a:graphicFrameLocks noGrp="true"/>
          </p:cNvGraphicFramePr>
          <p:nvPr/>
        </p:nvGraphicFramePr>
        <p:xfrm>
          <a:off x="1509940" y="3980750"/>
          <a:ext cx="15194721" cy="4537445"/>
        </p:xfrm>
        <a:graphic>
          <a:graphicData uri="http://schemas.openxmlformats.org/drawingml/2006/table">
            <a:tbl>
              <a:tblPr/>
              <a:tblGrid>
                <a:gridCol w="3285345"/>
                <a:gridCol w="2464009"/>
                <a:gridCol w="3422234"/>
                <a:gridCol w="6023133"/>
              </a:tblGrid>
              <a:tr h="648206">
                <a:tc>
                  <a:txBody>
                    <a:bodyPr anchor="t" rtlCol="false"/>
                    <a:lstStyle/>
                    <a:p>
                      <a:pPr algn="l">
                        <a:lnSpc>
                          <a:spcPts val="1981"/>
                        </a:lnSpc>
                        <a:defRPr/>
                      </a:pPr>
                      <a:r>
                        <a:rPr lang="en-US" sz="1651" b="true">
                          <a:solidFill>
                            <a:srgbClr val="60A5FA"/>
                          </a:solidFill>
                          <a:latin typeface="Calibri (MS) Bold"/>
                          <a:ea typeface="Calibri (MS) Bold"/>
                          <a:cs typeface="Calibri (MS) Bold"/>
                          <a:sym typeface="Calibri (MS) Bold"/>
                        </a:rPr>
                        <a:t>Tập Dữ Liệu</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60A5FA"/>
                          </a:solidFill>
                          <a:latin typeface="Calibri (MS) Bold"/>
                          <a:ea typeface="Calibri (MS) Bold"/>
                          <a:cs typeface="Calibri (MS) Bold"/>
                          <a:sym typeface="Calibri (MS) Bold"/>
                        </a:rPr>
                        <a:t>Số Lượng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60A5FA"/>
                          </a:solidFill>
                          <a:latin typeface="Calibri (MS) Bold"/>
                          <a:ea typeface="Calibri (MS) Bold"/>
                          <a:cs typeface="Calibri (MS) Bold"/>
                          <a:sym typeface="Calibri (MS) Bold"/>
                        </a:rPr>
                        <a:t>Phân Bố Mỗi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60A5FA"/>
                          </a:solidFill>
                          <a:latin typeface="Calibri (MS) Bold"/>
                          <a:ea typeface="Calibri (MS) Bold"/>
                          <a:cs typeface="Calibri (MS) Bold"/>
                          <a:sym typeface="Calibri (MS) Bold"/>
                        </a:rPr>
                        <a:t>Mục Đích Sử Dụng Trong Đề Tài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r>
              <a:tr h="648206">
                <a:tc>
                  <a:txBody>
                    <a:bodyPr anchor="t" rtlCol="false"/>
                    <a:lstStyle/>
                    <a:p>
                      <a:pPr algn="l">
                        <a:lnSpc>
                          <a:spcPts val="1891"/>
                        </a:lnSpc>
                        <a:defRPr/>
                      </a:pPr>
                      <a:r>
                        <a:rPr lang="en-US" sz="1576">
                          <a:solidFill>
                            <a:srgbClr val="F8FAFC"/>
                          </a:solidFill>
                          <a:latin typeface="Calibri (MS)"/>
                          <a:ea typeface="Calibri (MS)"/>
                          <a:cs typeface="Calibri (MS)"/>
                          <a:sym typeface="Calibri (MS)"/>
                        </a:rPr>
                        <a:t>Train (Huấn luyện)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45.000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4.500 ảnh / lớp (10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Huấn luyện đồng thời Encoder + Decoder FP32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648206">
                <a:tc>
                  <a:txBody>
                    <a:bodyPr anchor="t" rtlCol="false"/>
                    <a:lstStyle/>
                    <a:p>
                      <a:pPr algn="l">
                        <a:lnSpc>
                          <a:spcPts val="1891"/>
                        </a:lnSpc>
                        <a:defRPr/>
                      </a:pPr>
                      <a:r>
                        <a:rPr lang="en-US" sz="1576">
                          <a:solidFill>
                            <a:srgbClr val="F8FAFC"/>
                          </a:solidFill>
                          <a:latin typeface="Calibri (MS)"/>
                          <a:ea typeface="Calibri (MS)"/>
                          <a:cs typeface="Calibri (MS)"/>
                          <a:sym typeface="Calibri (MS)"/>
                        </a:rPr>
                        <a:t>Validation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5.000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500 ảnh /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Đánh giá loss, kích hoạt Early Stopping (patience=10)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r h="648206">
                <a:tc>
                  <a:txBody>
                    <a:bodyPr anchor="t" rtlCol="false"/>
                    <a:lstStyle/>
                    <a:p>
                      <a:pPr algn="l">
                        <a:lnSpc>
                          <a:spcPts val="1891"/>
                        </a:lnSpc>
                        <a:defRPr/>
                      </a:pPr>
                      <a:r>
                        <a:rPr lang="en-US" sz="1576">
                          <a:solidFill>
                            <a:srgbClr val="F8FAFC"/>
                          </a:solidFill>
                          <a:latin typeface="Calibri (MS)"/>
                          <a:ea typeface="Calibri (MS)"/>
                          <a:cs typeface="Calibri (MS)"/>
                          <a:sym typeface="Calibri (MS)"/>
                        </a:rPr>
                        <a:t>Calibration (PTQ)</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 ảnh /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Thu thập dải động activation phục vụ lượng tử hóa INT8</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648206">
                <a:tc>
                  <a:txBody>
                    <a:bodyPr anchor="t" rtlCol="false"/>
                    <a:lstStyle/>
                    <a:p>
                      <a:pPr algn="l">
                        <a:lnSpc>
                          <a:spcPts val="1891"/>
                        </a:lnSpc>
                        <a:defRPr/>
                      </a:pPr>
                      <a:r>
                        <a:rPr lang="en-US" sz="1576">
                          <a:solidFill>
                            <a:srgbClr val="F8FAFC"/>
                          </a:solidFill>
                          <a:latin typeface="Calibri (MS)"/>
                          <a:ea typeface="Calibri (MS)"/>
                          <a:cs typeface="Calibri (MS)"/>
                          <a:sym typeface="Calibri (MS)"/>
                        </a:rPr>
                        <a:t>Validation Bitrate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50 ảnh /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Quét sweep Q30-Q90 để khóa siêu tham số JPEG</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r h="648206">
                <a:tc>
                  <a:txBody>
                    <a:bodyPr anchor="t" rtlCol="false"/>
                    <a:lstStyle/>
                    <a:p>
                      <a:pPr algn="l">
                        <a:lnSpc>
                          <a:spcPts val="1891"/>
                        </a:lnSpc>
                        <a:defRPr/>
                      </a:pPr>
                      <a:r>
                        <a:rPr lang="en-US" sz="1576">
                          <a:solidFill>
                            <a:srgbClr val="F8FAFC"/>
                          </a:solidFill>
                          <a:latin typeface="Calibri (MS)"/>
                          <a:ea typeface="Calibri (MS)"/>
                          <a:cs typeface="Calibri (MS)"/>
                          <a:sym typeface="Calibri (MS)"/>
                        </a:rPr>
                        <a:t>Test (Đánh giá PC)</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10.000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1.000 ảnh /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Đo suy hao lượng tử hóa giữa FP32 và INT8 trên PC</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648208">
                <a:tc>
                  <a:txBody>
                    <a:bodyPr anchor="t" rtlCol="false"/>
                    <a:lstStyle/>
                    <a:p>
                      <a:pPr algn="l">
                        <a:lnSpc>
                          <a:spcPts val="1891"/>
                        </a:lnSpc>
                        <a:defRPr/>
                      </a:pPr>
                      <a:r>
                        <a:rPr lang="en-US" sz="1576">
                          <a:solidFill>
                            <a:srgbClr val="F8FAFC"/>
                          </a:solidFill>
                          <a:latin typeface="Calibri (MS)"/>
                          <a:ea typeface="Calibri (MS)"/>
                          <a:cs typeface="Calibri (MS)"/>
                          <a:sym typeface="Calibri (MS)"/>
                        </a:rPr>
                        <a:t>Hardware Test (ESP32)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20 ảnh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Đúng 2 ảnh / lớp (10 lớp)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Thực nghiệm đo đạc trực tiếp trên bo mạch ESP32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bl>
          </a:graphicData>
        </a:graphic>
      </p:graphicFrame>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5. Mạng TinyCAE &amp; Kỹ Thuật Lượng Tử Hóa PTQ INT8</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6680483" cy="6142739"/>
          </a:xfrm>
          <a:prstGeom prst="rect">
            <a:avLst/>
          </a:prstGeom>
        </p:spPr>
        <p:txBody>
          <a:bodyPr anchor="t" rtlCol="false" tIns="0" lIns="0" bIns="0" rIns="0">
            <a:spAutoFit/>
          </a:bodyPr>
          <a:lstStyle/>
          <a:p>
            <a:pPr algn="l">
              <a:lnSpc>
                <a:spcPts val="2702"/>
              </a:lnSpc>
            </a:pPr>
            <a:r>
              <a:rPr lang="en-US" sz="2251" b="true">
                <a:solidFill>
                  <a:srgbClr val="60A5FA"/>
                </a:solidFill>
                <a:latin typeface="Calibri (MS) Bold"/>
                <a:ea typeface="Calibri (MS) Bold"/>
                <a:cs typeface="Calibri (MS) Bold"/>
                <a:sym typeface="Calibri (MS) Bold"/>
              </a:rPr>
              <a:t>Kiến Trúc Bộ Mã Hóa TinyCAE</a:t>
            </a:r>
          </a:p>
          <a:p>
            <a:pPr algn="l">
              <a:lnSpc>
                <a:spcPts val="1981"/>
              </a:lnSpc>
            </a:pPr>
            <a:r>
              <a:rPr lang="en-US" sz="1651">
                <a:solidFill>
                  <a:srgbClr val="F8FAFC"/>
                </a:solidFill>
                <a:latin typeface="Calibri (MS)"/>
                <a:ea typeface="Calibri (MS)"/>
                <a:cs typeface="Calibri (MS)"/>
                <a:sym typeface="Calibri (MS)"/>
              </a:rPr>
              <a:t>• Thiết kế tối giản cho Edge: Encoder chỉ gồm 2 lớp Conv2D (stride=2) rút gọn kích thước từ 32x32 xuống 8x8.</a:t>
            </a:r>
          </a:p>
          <a:p>
            <a:pPr algn="l">
              <a:lnSpc>
                <a:spcPts val="1981"/>
              </a:lnSpc>
            </a:pPr>
            <a:r>
              <a:rPr lang="en-US" sz="1651">
                <a:solidFill>
                  <a:srgbClr val="F8FAFC"/>
                </a:solidFill>
                <a:latin typeface="Calibri (MS)"/>
                <a:ea typeface="Calibri (MS)"/>
                <a:cs typeface="Calibri (MS)"/>
                <a:sym typeface="Calibri (MS)"/>
              </a:rPr>
              <a:t>• Lớp 1: Conv2D(32 filter, kernel 3x3, stride 2, padding same, ReLU) -&gt; 16x16x32.</a:t>
            </a:r>
          </a:p>
          <a:p>
            <a:pPr algn="l">
              <a:lnSpc>
                <a:spcPts val="1981"/>
              </a:lnSpc>
            </a:pPr>
            <a:r>
              <a:rPr lang="en-US" sz="1651">
                <a:solidFill>
                  <a:srgbClr val="F8FAFC"/>
                </a:solidFill>
                <a:latin typeface="Calibri (MS)"/>
                <a:ea typeface="Calibri (MS)"/>
                <a:cs typeface="Calibri (MS)"/>
                <a:sym typeface="Calibri (MS)"/>
              </a:rPr>
              <a:t>• Lớp 2 (Bottleneck): Conv2D(16 filter, kernel 3x3, stride 2, padding same) -&gt; 8x8x16.</a:t>
            </a:r>
          </a:p>
          <a:p>
            <a:pPr algn="l">
              <a:lnSpc>
                <a:spcPts val="1981"/>
              </a:lnSpc>
            </a:pPr>
            <a:r>
              <a:rPr lang="en-US" sz="1651">
                <a:solidFill>
                  <a:srgbClr val="F8FAFC"/>
                </a:solidFill>
                <a:latin typeface="Calibri (MS)"/>
                <a:ea typeface="Calibri (MS)"/>
                <a:cs typeface="Calibri (MS)"/>
                <a:sym typeface="Calibri (MS)"/>
              </a:rPr>
              <a:t>• Kích thước tham số cực nhỏ: Tổng cộng chỉ 2.800 trọng số (11,2 KB FP32, nén còn 9,56 KB INT8).</a:t>
            </a:r>
          </a:p>
          <a:p>
            <a:pPr algn="l">
              <a:lnSpc>
                <a:spcPts val="1981"/>
              </a:lnSpc>
            </a:pPr>
            <a:r>
              <a:rPr lang="en-US" sz="1651">
                <a:solidFill>
                  <a:srgbClr val="F8FAFC"/>
                </a:solidFill>
                <a:latin typeface="Calibri (MS)"/>
                <a:ea typeface="Calibri (MS)"/>
                <a:cs typeface="Calibri (MS)"/>
                <a:sym typeface="Calibri (MS)"/>
              </a:rPr>
              <a:t>• Khối lượng tính toán nhẹ: Chỉ 337.920 phép tính MACs cho toàn bộ encoder.</a:t>
            </a:r>
          </a:p>
          <a:p>
            <a:pPr algn="l">
              <a:lnSpc>
                <a:spcPts val="1981"/>
              </a:lnSpc>
            </a:pPr>
            <a:r>
              <a:rPr lang="en-US" sz="1651">
                <a:solidFill>
                  <a:srgbClr val="F8FAFC"/>
                </a:solidFill>
                <a:latin typeface="Calibri (MS)"/>
                <a:ea typeface="Calibri (MS)"/>
                <a:cs typeface="Calibri (MS)"/>
                <a:sym typeface="Calibri (MS)"/>
              </a:rPr>
              <a:t>• Kích thước Latent cố định: 8 × 8 × 16 = 1.024 bytes INT8 (8.00 bpp cố định tuyệt đối).</a:t>
            </a:r>
          </a:p>
        </p:txBody>
      </p:sp>
      <p:grpSp>
        <p:nvGrpSpPr>
          <p:cNvPr name="Group 8" id="8"/>
          <p:cNvGrpSpPr/>
          <p:nvPr/>
        </p:nvGrpSpPr>
        <p:grpSpPr>
          <a:xfrm rot="0">
            <a:off x="9319870" y="2456507"/>
            <a:ext cx="7852829" cy="6891957"/>
            <a:chOff x="0" y="0"/>
            <a:chExt cx="10470439" cy="9189276"/>
          </a:xfrm>
        </p:grpSpPr>
        <p:sp>
          <p:nvSpPr>
            <p:cNvPr name="Freeform 9" id="9"/>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10" id="10"/>
          <p:cNvSpPr txBox="true"/>
          <p:nvPr/>
        </p:nvSpPr>
        <p:spPr>
          <a:xfrm rot="0">
            <a:off x="9837410" y="2733913"/>
            <a:ext cx="6817747" cy="6142739"/>
          </a:xfrm>
          <a:prstGeom prst="rect">
            <a:avLst/>
          </a:prstGeom>
        </p:spPr>
        <p:txBody>
          <a:bodyPr anchor="t" rtlCol="false" tIns="0" lIns="0" bIns="0" rIns="0">
            <a:spAutoFit/>
          </a:bodyPr>
          <a:lstStyle/>
          <a:p>
            <a:pPr algn="l">
              <a:lnSpc>
                <a:spcPts val="2702"/>
              </a:lnSpc>
            </a:pPr>
            <a:r>
              <a:rPr lang="en-US" sz="2251" b="true">
                <a:solidFill>
                  <a:srgbClr val="FBBF24"/>
                </a:solidFill>
                <a:latin typeface="Calibri (MS) Bold"/>
                <a:ea typeface="Calibri (MS) Bold"/>
                <a:cs typeface="Calibri (MS) Bold"/>
                <a:sym typeface="Calibri (MS) Bold"/>
              </a:rPr>
              <a:t>Lượng Tử Hóa Sau Huấn Luyện (PTQ INT8)</a:t>
            </a:r>
          </a:p>
          <a:p>
            <a:pPr algn="l">
              <a:lnSpc>
                <a:spcPts val="1981"/>
              </a:lnSpc>
            </a:pPr>
            <a:r>
              <a:rPr lang="en-US" sz="1651">
                <a:solidFill>
                  <a:srgbClr val="F8FAFC"/>
                </a:solidFill>
                <a:latin typeface="Calibri (MS)"/>
                <a:ea typeface="Calibri (MS)"/>
                <a:cs typeface="Calibri (MS)"/>
                <a:sym typeface="Calibri (MS)"/>
              </a:rPr>
              <a:t>• Mục tiêu: Chuyển toàn bộ phép tính dấu phẩy động FP32 sang số nguyên có dấu 8-bit (int8) để tận dụng tập lệnh nhân cộng nguyên của ESP32.</a:t>
            </a:r>
          </a:p>
          <a:p>
            <a:pPr algn="l">
              <a:lnSpc>
                <a:spcPts val="1981"/>
              </a:lnSpc>
            </a:pPr>
            <a:r>
              <a:rPr lang="en-US" sz="1651">
                <a:solidFill>
                  <a:srgbClr val="F8FAFC"/>
                </a:solidFill>
                <a:latin typeface="Calibri (MS)"/>
                <a:ea typeface="Calibri (MS)"/>
                <a:cs typeface="Calibri (MS)"/>
                <a:sym typeface="Calibri (MS)"/>
              </a:rPr>
              <a:t>• Tập hiệu chuẩn (Calibration): 500 ảnh phân tầng từ tập train, thu thập phân phối giá trị kích hoạt.</a:t>
            </a:r>
          </a:p>
          <a:p>
            <a:pPr algn="l">
              <a:lnSpc>
                <a:spcPts val="1981"/>
              </a:lnSpc>
            </a:pPr>
            <a:r>
              <a:rPr lang="en-US" sz="1651">
                <a:solidFill>
                  <a:srgbClr val="F8FAFC"/>
                </a:solidFill>
                <a:latin typeface="Calibri (MS)"/>
                <a:ea typeface="Calibri (MS)"/>
                <a:cs typeface="Calibri (MS)"/>
                <a:sym typeface="Calibri (MS)"/>
              </a:rPr>
              <a:t>• Thông số lượng tử hóa đầu vào: Input scale = 0.00392157, zero-point = -128 (ánh xạ chuẩn hóa [0, 1] sang [-128, 127]).</a:t>
            </a:r>
          </a:p>
          <a:p>
            <a:pPr algn="l">
              <a:lnSpc>
                <a:spcPts val="1981"/>
              </a:lnSpc>
            </a:pPr>
            <a:r>
              <a:rPr lang="en-US" sz="1651">
                <a:solidFill>
                  <a:srgbClr val="F8FAFC"/>
                </a:solidFill>
                <a:latin typeface="Calibri (MS)"/>
                <a:ea typeface="Calibri (MS)"/>
                <a:cs typeface="Calibri (MS)"/>
                <a:sym typeface="Calibri (MS)"/>
              </a:rPr>
              <a:t>• Thông số lượng tử hóa Latent: Output scale = 0.00477045, zero-point = -5.</a:t>
            </a:r>
          </a:p>
          <a:p>
            <a:pPr algn="l">
              <a:lnSpc>
                <a:spcPts val="1981"/>
              </a:lnSpc>
            </a:pPr>
            <a:r>
              <a:rPr lang="en-US" sz="1651">
                <a:solidFill>
                  <a:srgbClr val="F8FAFC"/>
                </a:solidFill>
                <a:latin typeface="Calibri (MS)"/>
                <a:ea typeface="Calibri (MS)"/>
                <a:cs typeface="Calibri (MS)"/>
                <a:sym typeface="Calibri (MS)"/>
              </a:rPr>
              <a:t>• Kiểm tra sai số số học (Golden Test): Sai lệch tuyệt đối giữa ESP32 và TFLite máy tính tối đa đúng 1 LSB do làm tròn số học, không tràn số.</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6. Phương Pháp Khóa Siêu Tham Số Đối Chứng JPEG Q70</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34D399"/>
                </a:solidFill>
                <a:latin typeface="Calibri (MS) Bold"/>
                <a:ea typeface="Calibri (MS) Bold"/>
                <a:cs typeface="Calibri (MS) Bold"/>
                <a:sym typeface="Calibri (MS) Bold"/>
              </a:rPr>
              <a:t>Quy Trình Khóa Chất Lượng Trên Tập Validation Bitrate (500 Ảnh)</a:t>
            </a:r>
          </a:p>
          <a:p>
            <a:pPr algn="l">
              <a:lnSpc>
                <a:spcPts val="2161"/>
              </a:lnSpc>
            </a:pPr>
            <a:r>
              <a:rPr lang="en-US" sz="1801">
                <a:solidFill>
                  <a:srgbClr val="F8FAFC"/>
                </a:solidFill>
                <a:latin typeface="Calibri (MS)"/>
                <a:ea typeface="Calibri (MS)"/>
                <a:cs typeface="Calibri (MS)"/>
                <a:sym typeface="Calibri (MS)"/>
              </a:rPr>
              <a:t>Để tránh việc chọn thông số thiên vị (cherry-picking) sau khi nhìn thấy kết quả test, đề tài tiến hành quét sweep 4 mức chất lượng JPEG trên 500 ảnh validation bitrate độc lập trước khi thử nghiệm phần cứng:</a:t>
            </a:r>
          </a:p>
          <a:p>
            <a:pPr algn="l">
              <a:lnSpc>
                <a:spcPts val="1981"/>
              </a:lnSpc>
            </a:pPr>
          </a:p>
          <a:p>
            <a:pPr algn="l">
              <a:lnSpc>
                <a:spcPts val="1981"/>
              </a:lnSpc>
            </a:pPr>
            <a:r>
              <a:rPr lang="en-US" sz="1651" b="true">
                <a:solidFill>
                  <a:srgbClr val="FBBF24"/>
                </a:solidFill>
                <a:latin typeface="Calibri (MS) Bold"/>
                <a:ea typeface="Calibri (MS) Bold"/>
                <a:cs typeface="Calibri (MS) Bold"/>
                <a:sym typeface="Calibri (MS) Bold"/>
              </a:rPr>
              <a:t>=&gt; KẾT LUẬN: Mức Q = 70 được khóa cứng và ghi nhận vào tệp jpeg_locked_quality.json. Cả hai thuật toán bước vào vòng kiểm thử phần cứng với cùng ngân sách tốc độ bít (~7.5 - 8.0 bpp).</a:t>
            </a:r>
          </a:p>
        </p:txBody>
      </p:sp>
      <p:graphicFrame>
        <p:nvGraphicFramePr>
          <p:cNvPr name="Table 8" id="8"/>
          <p:cNvGraphicFramePr>
            <a:graphicFrameLocks noGrp="true"/>
          </p:cNvGraphicFramePr>
          <p:nvPr/>
        </p:nvGraphicFramePr>
        <p:xfrm>
          <a:off x="1509940" y="4733004"/>
          <a:ext cx="15175656" cy="3527005"/>
        </p:xfrm>
        <a:graphic>
          <a:graphicData uri="http://schemas.openxmlformats.org/drawingml/2006/table">
            <a:tbl>
              <a:tblPr/>
              <a:tblGrid>
                <a:gridCol w="2460917"/>
                <a:gridCol w="2460917"/>
                <a:gridCol w="2460917"/>
                <a:gridCol w="2460917"/>
                <a:gridCol w="2460917"/>
                <a:gridCol w="2871070"/>
              </a:tblGrid>
              <a:tr h="705401">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Mức Quality</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Dung Lượng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Tốc Độ Bít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Tỉ Số Nén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PSNR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Đánh Giá Lựa Chọn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r>
              <a:tr h="705401">
                <a:tc>
                  <a:txBody>
                    <a:bodyPr anchor="t" rtlCol="false"/>
                    <a:lstStyle/>
                    <a:p>
                      <a:pPr algn="l">
                        <a:lnSpc>
                          <a:spcPts val="1891"/>
                        </a:lnSpc>
                        <a:defRPr/>
                      </a:pPr>
                      <a:r>
                        <a:rPr lang="en-US" sz="1576">
                          <a:solidFill>
                            <a:srgbClr val="F8FAFC"/>
                          </a:solidFill>
                          <a:latin typeface="Calibri (MS)"/>
                          <a:ea typeface="Calibri (MS)"/>
                          <a:cs typeface="Calibri (MS)"/>
                          <a:sym typeface="Calibri (MS)"/>
                        </a:rPr>
                        <a:t>JPEG Q30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597.10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4.66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5.15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27.53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Bitrate quá thấp, méo khối nặng</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705401">
                <a:tc>
                  <a:txBody>
                    <a:bodyPr anchor="t" rtlCol="false"/>
                    <a:lstStyle/>
                    <a:p>
                      <a:pPr algn="l">
                        <a:lnSpc>
                          <a:spcPts val="1891"/>
                        </a:lnSpc>
                        <a:defRPr/>
                      </a:pPr>
                      <a:r>
                        <a:rPr lang="en-US" sz="1576">
                          <a:solidFill>
                            <a:srgbClr val="F8FAFC"/>
                          </a:solidFill>
                          <a:latin typeface="Calibri (MS)"/>
                          <a:ea typeface="Calibri (MS)"/>
                          <a:cs typeface="Calibri (MS)"/>
                          <a:sym typeface="Calibri (MS)"/>
                        </a:rPr>
                        <a:t>JPEG Q50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771.55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6.03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3.98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29.50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Thấp hơn bitrate TinyCAE</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r h="705401">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 JPEG Q70 (Khóa)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960.09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7.50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3.21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31.31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c>
                  <a:txBody>
                    <a:bodyPr anchor="t" rtlCol="false"/>
                    <a:lstStyle/>
                    <a:p>
                      <a:pPr algn="l">
                        <a:lnSpc>
                          <a:spcPts val="1891"/>
                        </a:lnSpc>
                        <a:defRPr/>
                      </a:pPr>
                      <a:r>
                        <a:rPr lang="en-US" sz="1576" b="true">
                          <a:solidFill>
                            <a:srgbClr val="34D399"/>
                          </a:solidFill>
                          <a:latin typeface="Calibri (MS) Bold"/>
                          <a:ea typeface="Calibri (MS) Bold"/>
                          <a:cs typeface="Calibri (MS) Bold"/>
                          <a:sym typeface="Calibri (MS) Bold"/>
                        </a:rPr>
                        <a:t>GẦN NHẤT VỚI TINYCAE (8.00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3A3C"/>
                    </a:solidFill>
                  </a:tcPr>
                </a:tc>
              </a:tr>
              <a:tr h="705401">
                <a:tc>
                  <a:txBody>
                    <a:bodyPr anchor="t" rtlCol="false"/>
                    <a:lstStyle/>
                    <a:p>
                      <a:pPr algn="l">
                        <a:lnSpc>
                          <a:spcPts val="1891"/>
                        </a:lnSpc>
                        <a:defRPr/>
                      </a:pPr>
                      <a:r>
                        <a:rPr lang="en-US" sz="1576">
                          <a:solidFill>
                            <a:srgbClr val="F8FAFC"/>
                          </a:solidFill>
                          <a:latin typeface="Calibri (MS)"/>
                          <a:ea typeface="Calibri (MS)"/>
                          <a:cs typeface="Calibri (MS)"/>
                          <a:sym typeface="Calibri (MS)"/>
                        </a:rPr>
                        <a:t>JPEG Q90</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1545.92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12.08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1.99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35.32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Dung lượng vượt quá xa (+51%)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bl>
          </a:graphicData>
        </a:graphic>
      </p:graphicFrame>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7. Kết Quả Thực Nghiệm Trên 20 Ảnh Phần Cứng ESP32</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38BDF8"/>
                </a:solidFill>
                <a:latin typeface="Calibri (MS) Bold"/>
                <a:ea typeface="Calibri (MS) Bold"/>
                <a:cs typeface="Calibri (MS) Bold"/>
                <a:sym typeface="Calibri (MS) Bold"/>
              </a:rPr>
              <a:t>Bảng So Sánh Tổng Hợp Đa Chỉ Số (Rate - Distortion - Latency)</a:t>
            </a:r>
          </a:p>
          <a:p>
            <a:pPr algn="l">
              <a:lnSpc>
                <a:spcPts val="2341"/>
              </a:lnSpc>
            </a:pPr>
          </a:p>
          <a:p>
            <a:pPr algn="l">
              <a:lnSpc>
                <a:spcPts val="2341"/>
              </a:lnSpc>
            </a:pPr>
            <a:r>
              <a:rPr lang="en-US" sz="1951" b="true">
                <a:solidFill>
                  <a:srgbClr val="FBBF24"/>
                </a:solidFill>
                <a:latin typeface="Calibri (MS) Bold"/>
                <a:ea typeface="Calibri (MS) Bold"/>
                <a:cs typeface="Calibri (MS) Bold"/>
                <a:sym typeface="Calibri (MS) Bold"/>
              </a:rPr>
              <a:t>Phân Tích Đánh Đổi Kỹ Thuật (Trade-off Analysis):</a:t>
            </a:r>
          </a:p>
          <a:p>
            <a:pPr algn="l">
              <a:lnSpc>
                <a:spcPts val="1981"/>
              </a:lnSpc>
            </a:pPr>
            <a:r>
              <a:rPr lang="en-US" sz="1651">
                <a:solidFill>
                  <a:srgbClr val="F8FAFC"/>
                </a:solidFill>
                <a:latin typeface="Calibri (MS)"/>
                <a:ea typeface="Calibri (MS)"/>
                <a:cs typeface="Calibri (MS)"/>
                <a:sym typeface="Calibri (MS)"/>
              </a:rPr>
              <a:t>• 1. Chất lượng tái tạo: TinyCAE nhỉnh hơn JPEG Q70 (+0,14 dB PSNR và +0,0030 SSIM trung bình), đặc biệt vượt trội trên các ảnh có bề mặt mượt và viền cong.</a:t>
            </a:r>
          </a:p>
          <a:p>
            <a:pPr algn="l">
              <a:lnSpc>
                <a:spcPts val="1981"/>
              </a:lnSpc>
            </a:pPr>
            <a:r>
              <a:rPr lang="en-US" sz="1651">
                <a:solidFill>
                  <a:srgbClr val="F8FAFC"/>
                </a:solidFill>
                <a:latin typeface="Calibri (MS)"/>
                <a:ea typeface="Calibri (MS)"/>
                <a:cs typeface="Calibri (MS)"/>
                <a:sym typeface="Calibri (MS)"/>
              </a:rPr>
              <a:t>• 2. Kích thước bitstream: TinyCAE tạo kích thước cố định tuyệt đối 1.024 Bytes (8.00 bpp), cực kỳ thuận lợi cho truyền thông IoT đóng gói MTU không phân mảnh; JPEG biến thiên từ 813 B đến 1.139 B phụ thuộc nội dung ảnh.</a:t>
            </a:r>
          </a:p>
          <a:p>
            <a:pPr algn="l">
              <a:lnSpc>
                <a:spcPts val="1981"/>
              </a:lnSpc>
            </a:pPr>
            <a:r>
              <a:rPr lang="en-US" sz="1651">
                <a:solidFill>
                  <a:srgbClr val="F8FAFC"/>
                </a:solidFill>
                <a:latin typeface="Calibri (MS)"/>
                <a:ea typeface="Calibri (MS)"/>
                <a:cs typeface="Calibri (MS)"/>
                <a:sym typeface="Calibri (MS)"/>
              </a:rPr>
              <a:t>• 3. Tốc độ thực thi: JPEG có lợi thế áp đảo khi chỉ mất 2,43 ms, nhanh hơn TinyCAE (60,70 ms) tới 25 lần, rất phù hợp cho cảm biến tiết kiệm pin cần chuyển chế độ Deep Sleep ngay.</a:t>
            </a:r>
          </a:p>
        </p:txBody>
      </p:sp>
      <p:graphicFrame>
        <p:nvGraphicFramePr>
          <p:cNvPr name="Table 8" id="8"/>
          <p:cNvGraphicFramePr>
            <a:graphicFrameLocks noGrp="true"/>
          </p:cNvGraphicFramePr>
          <p:nvPr/>
        </p:nvGraphicFramePr>
        <p:xfrm>
          <a:off x="1544027" y="5242713"/>
          <a:ext cx="15213786" cy="2459371"/>
        </p:xfrm>
        <a:graphic>
          <a:graphicData uri="http://schemas.openxmlformats.org/drawingml/2006/table">
            <a:tbl>
              <a:tblPr/>
              <a:tblGrid>
                <a:gridCol w="3015345"/>
                <a:gridCol w="1918856"/>
                <a:gridCol w="2055917"/>
                <a:gridCol w="2055917"/>
                <a:gridCol w="2055917"/>
                <a:gridCol w="2055917"/>
                <a:gridCol w="2055917"/>
              </a:tblGrid>
              <a:tr h="819790">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Thuật Toán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Dung Lượng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Tốc Độ Bít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Tỉ Số Nén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PSNR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SSIM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891"/>
                        </a:lnSpc>
                        <a:defRPr/>
                      </a:pPr>
                      <a:r>
                        <a:rPr lang="en-US" sz="1576" b="true">
                          <a:solidFill>
                            <a:srgbClr val="60A5FA"/>
                          </a:solidFill>
                          <a:latin typeface="Calibri (MS) Bold"/>
                          <a:ea typeface="Calibri (MS) Bold"/>
                          <a:cs typeface="Calibri (MS) Bold"/>
                          <a:sym typeface="Calibri (MS) Bold"/>
                        </a:rPr>
                        <a:t>Thời Gian ESP32</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r>
              <a:tr h="819790">
                <a:tc>
                  <a:txBody>
                    <a:bodyPr anchor="t" rtlCol="false"/>
                    <a:lstStyle/>
                    <a:p>
                      <a:pPr algn="l">
                        <a:lnSpc>
                          <a:spcPts val="1981"/>
                        </a:lnSpc>
                        <a:defRPr/>
                      </a:pPr>
                      <a:r>
                        <a:rPr lang="en-US" sz="1651">
                          <a:solidFill>
                            <a:srgbClr val="F8FAFC"/>
                          </a:solidFill>
                          <a:latin typeface="Calibri (MS)"/>
                          <a:ea typeface="Calibri (MS)"/>
                          <a:cs typeface="Calibri (MS)"/>
                          <a:sym typeface="Calibri (MS)"/>
                        </a:rPr>
                        <a:t>TinyCAE INT8</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1.024,00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8,0000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3,00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31,33 ± 1,90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0,9674 ± 0,013</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60,70 ms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819790">
                <a:tc>
                  <a:txBody>
                    <a:bodyPr anchor="t" rtlCol="false"/>
                    <a:lstStyle/>
                    <a:p>
                      <a:pPr algn="l">
                        <a:lnSpc>
                          <a:spcPts val="1981"/>
                        </a:lnSpc>
                        <a:defRPr/>
                      </a:pPr>
                      <a:r>
                        <a:rPr lang="en-US" sz="1651">
                          <a:solidFill>
                            <a:srgbClr val="F8FAFC"/>
                          </a:solidFill>
                          <a:latin typeface="Calibri (MS)"/>
                          <a:ea typeface="Calibri (MS)"/>
                          <a:cs typeface="Calibri (MS)"/>
                          <a:sym typeface="Calibri (MS)"/>
                        </a:rPr>
                        <a:t>JPEG Q70 (Khóa)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968,55 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7,5668 bpp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3,18 : 1</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31,18 ± 1,55 dB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0,9644 ± 0,015</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981"/>
                        </a:lnSpc>
                        <a:defRPr/>
                      </a:pPr>
                      <a:r>
                        <a:rPr lang="en-US" sz="1651">
                          <a:solidFill>
                            <a:srgbClr val="F8FAFC"/>
                          </a:solidFill>
                          <a:latin typeface="Calibri (MS)"/>
                          <a:ea typeface="Calibri (MS)"/>
                          <a:cs typeface="Calibri (MS)"/>
                          <a:sym typeface="Calibri (MS)"/>
                        </a:rPr>
                        <a:t>2,43 ms</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8. Đồ Thị Phân Tích Rate - Distortion &amp; Thời Gian Thực Thi</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grpSp>
        <p:nvGrpSpPr>
          <p:cNvPr name="Group 7" id="7"/>
          <p:cNvGrpSpPr/>
          <p:nvPr/>
        </p:nvGrpSpPr>
        <p:grpSpPr>
          <a:xfrm rot="0">
            <a:off x="1285690" y="3389032"/>
            <a:ext cx="7311865" cy="5026907"/>
            <a:chOff x="0" y="0"/>
            <a:chExt cx="9883242" cy="6794729"/>
          </a:xfrm>
        </p:grpSpPr>
        <p:sp>
          <p:nvSpPr>
            <p:cNvPr name="Freeform 8" id="8" descr="bpp_psnr_comparison.png"/>
            <p:cNvSpPr/>
            <p:nvPr/>
          </p:nvSpPr>
          <p:spPr>
            <a:xfrm flipH="false" flipV="false" rot="0">
              <a:off x="0" y="0"/>
              <a:ext cx="9883267" cy="6794754"/>
            </a:xfrm>
            <a:custGeom>
              <a:avLst/>
              <a:gdLst/>
              <a:ahLst/>
              <a:cxnLst/>
              <a:rect r="r" b="b" t="t" l="l"/>
              <a:pathLst>
                <a:path h="6794754" w="9883267">
                  <a:moveTo>
                    <a:pt x="0" y="0"/>
                  </a:moveTo>
                  <a:lnTo>
                    <a:pt x="9883267" y="0"/>
                  </a:lnTo>
                  <a:lnTo>
                    <a:pt x="9883267" y="6794754"/>
                  </a:lnTo>
                  <a:lnTo>
                    <a:pt x="0" y="6794754"/>
                  </a:lnTo>
                  <a:lnTo>
                    <a:pt x="0" y="0"/>
                  </a:lnTo>
                  <a:close/>
                </a:path>
              </a:pathLst>
            </a:custGeom>
            <a:blipFill>
              <a:blip r:embed="rId2"/>
              <a:stretch>
                <a:fillRect l="0" t="0" r="0" b="0"/>
              </a:stretch>
            </a:blipFill>
          </p:spPr>
        </p:sp>
      </p:grpSp>
      <p:grpSp>
        <p:nvGrpSpPr>
          <p:cNvPr name="Group 9" id="9"/>
          <p:cNvGrpSpPr/>
          <p:nvPr/>
        </p:nvGrpSpPr>
        <p:grpSpPr>
          <a:xfrm rot="0">
            <a:off x="9319870" y="2456507"/>
            <a:ext cx="7852829" cy="6891957"/>
            <a:chOff x="0" y="0"/>
            <a:chExt cx="10470439" cy="9189276"/>
          </a:xfrm>
        </p:grpSpPr>
        <p:sp>
          <p:nvSpPr>
            <p:cNvPr name="Freeform 10" id="10"/>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grpSp>
        <p:nvGrpSpPr>
          <p:cNvPr name="Group 11" id="11"/>
          <p:cNvGrpSpPr/>
          <p:nvPr/>
        </p:nvGrpSpPr>
        <p:grpSpPr>
          <a:xfrm rot="0">
            <a:off x="9471436" y="3543205"/>
            <a:ext cx="7549696" cy="4718561"/>
            <a:chOff x="0" y="0"/>
            <a:chExt cx="10066261" cy="6291415"/>
          </a:xfrm>
        </p:grpSpPr>
        <p:sp>
          <p:nvSpPr>
            <p:cNvPr name="Freeform 12" id="12" descr="execution_time_comparison.png"/>
            <p:cNvSpPr/>
            <p:nvPr/>
          </p:nvSpPr>
          <p:spPr>
            <a:xfrm flipH="false" flipV="false" rot="0">
              <a:off x="0" y="0"/>
              <a:ext cx="10066274" cy="6291453"/>
            </a:xfrm>
            <a:custGeom>
              <a:avLst/>
              <a:gdLst/>
              <a:ahLst/>
              <a:cxnLst/>
              <a:rect r="r" b="b" t="t" l="l"/>
              <a:pathLst>
                <a:path h="6291453" w="10066274">
                  <a:moveTo>
                    <a:pt x="0" y="0"/>
                  </a:moveTo>
                  <a:lnTo>
                    <a:pt x="10066274" y="0"/>
                  </a:lnTo>
                  <a:lnTo>
                    <a:pt x="10066274" y="6291453"/>
                  </a:lnTo>
                  <a:lnTo>
                    <a:pt x="0" y="6291453"/>
                  </a:lnTo>
                  <a:lnTo>
                    <a:pt x="0" y="0"/>
                  </a:lnTo>
                  <a:close/>
                </a:path>
              </a:pathLst>
            </a:custGeom>
            <a:blipFill>
              <a:blip r:embed="rId3"/>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9. Phân Tích Độ Lệch Ghép Cặp Từng Ảnh (Pairwise Analysis)</a:t>
            </a:r>
          </a:p>
        </p:txBody>
      </p:sp>
      <p:grpSp>
        <p:nvGrpSpPr>
          <p:cNvPr name="Group 5" id="5"/>
          <p:cNvGrpSpPr/>
          <p:nvPr/>
        </p:nvGrpSpPr>
        <p:grpSpPr>
          <a:xfrm rot="0">
            <a:off x="1083840" y="2456507"/>
            <a:ext cx="8950966" cy="6891957"/>
            <a:chOff x="0" y="0"/>
            <a:chExt cx="11934622" cy="9189276"/>
          </a:xfrm>
        </p:grpSpPr>
        <p:sp>
          <p:nvSpPr>
            <p:cNvPr name="Freeform 6" id="6"/>
            <p:cNvSpPr/>
            <p:nvPr/>
          </p:nvSpPr>
          <p:spPr>
            <a:xfrm flipH="false" flipV="false" rot="0">
              <a:off x="0" y="0"/>
              <a:ext cx="11934698" cy="9189338"/>
            </a:xfrm>
            <a:custGeom>
              <a:avLst/>
              <a:gdLst/>
              <a:ahLst/>
              <a:cxnLst/>
              <a:rect r="r" b="b" t="t" l="l"/>
              <a:pathLst>
                <a:path h="9189338" w="11934698">
                  <a:moveTo>
                    <a:pt x="0" y="1531620"/>
                  </a:moveTo>
                  <a:cubicBezTo>
                    <a:pt x="0" y="685673"/>
                    <a:pt x="685673" y="0"/>
                    <a:pt x="1531620" y="0"/>
                  </a:cubicBezTo>
                  <a:lnTo>
                    <a:pt x="10403078" y="0"/>
                  </a:lnTo>
                  <a:cubicBezTo>
                    <a:pt x="11248898" y="0"/>
                    <a:pt x="11934698" y="685673"/>
                    <a:pt x="11934698" y="1531620"/>
                  </a:cubicBezTo>
                  <a:lnTo>
                    <a:pt x="11934698" y="7657719"/>
                  </a:lnTo>
                  <a:cubicBezTo>
                    <a:pt x="11934698" y="8503538"/>
                    <a:pt x="11249025" y="9189338"/>
                    <a:pt x="1040307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grpSp>
        <p:nvGrpSpPr>
          <p:cNvPr name="Group 7" id="7"/>
          <p:cNvGrpSpPr/>
          <p:nvPr/>
        </p:nvGrpSpPr>
        <p:grpSpPr>
          <a:xfrm rot="0">
            <a:off x="1641464" y="2768198"/>
            <a:ext cx="7835720" cy="6268574"/>
            <a:chOff x="0" y="0"/>
            <a:chExt cx="11530444" cy="9224353"/>
          </a:xfrm>
        </p:grpSpPr>
        <p:sp>
          <p:nvSpPr>
            <p:cNvPr name="Freeform 8" id="8" descr="pairwise_delta_analysis.png"/>
            <p:cNvSpPr/>
            <p:nvPr/>
          </p:nvSpPr>
          <p:spPr>
            <a:xfrm flipH="false" flipV="false" rot="0">
              <a:off x="0" y="0"/>
              <a:ext cx="11530457" cy="9224391"/>
            </a:xfrm>
            <a:custGeom>
              <a:avLst/>
              <a:gdLst/>
              <a:ahLst/>
              <a:cxnLst/>
              <a:rect r="r" b="b" t="t" l="l"/>
              <a:pathLst>
                <a:path h="9224391" w="11530457">
                  <a:moveTo>
                    <a:pt x="0" y="0"/>
                  </a:moveTo>
                  <a:lnTo>
                    <a:pt x="11530457" y="0"/>
                  </a:lnTo>
                  <a:lnTo>
                    <a:pt x="11530457" y="9224391"/>
                  </a:lnTo>
                  <a:lnTo>
                    <a:pt x="0" y="9224391"/>
                  </a:lnTo>
                  <a:lnTo>
                    <a:pt x="0" y="0"/>
                  </a:lnTo>
                  <a:close/>
                </a:path>
              </a:pathLst>
            </a:custGeom>
            <a:blipFill>
              <a:blip r:embed="rId2"/>
              <a:stretch>
                <a:fillRect l="0" t="0" r="0" b="0"/>
              </a:stretch>
            </a:blipFill>
          </p:spPr>
        </p:sp>
      </p:grpSp>
      <p:grpSp>
        <p:nvGrpSpPr>
          <p:cNvPr name="Group 9" id="9"/>
          <p:cNvGrpSpPr/>
          <p:nvPr/>
        </p:nvGrpSpPr>
        <p:grpSpPr>
          <a:xfrm rot="0">
            <a:off x="10418007" y="2456507"/>
            <a:ext cx="6754692" cy="6891957"/>
            <a:chOff x="0" y="0"/>
            <a:chExt cx="9006256" cy="9189276"/>
          </a:xfrm>
        </p:grpSpPr>
        <p:sp>
          <p:nvSpPr>
            <p:cNvPr name="Freeform 10" id="10"/>
            <p:cNvSpPr/>
            <p:nvPr/>
          </p:nvSpPr>
          <p:spPr>
            <a:xfrm flipH="false" flipV="false" rot="0">
              <a:off x="0" y="0"/>
              <a:ext cx="9006205" cy="9189212"/>
            </a:xfrm>
            <a:custGeom>
              <a:avLst/>
              <a:gdLst/>
              <a:ahLst/>
              <a:cxnLst/>
              <a:rect r="r" b="b" t="t" l="l"/>
              <a:pathLst>
                <a:path h="9189212" w="9006205">
                  <a:moveTo>
                    <a:pt x="0" y="1501013"/>
                  </a:moveTo>
                  <a:cubicBezTo>
                    <a:pt x="0" y="672084"/>
                    <a:pt x="672084" y="0"/>
                    <a:pt x="1501013" y="0"/>
                  </a:cubicBezTo>
                  <a:lnTo>
                    <a:pt x="7505192" y="0"/>
                  </a:lnTo>
                  <a:cubicBezTo>
                    <a:pt x="8334249" y="0"/>
                    <a:pt x="9006205" y="672084"/>
                    <a:pt x="9006205" y="1501013"/>
                  </a:cubicBezTo>
                  <a:lnTo>
                    <a:pt x="9006205" y="7688199"/>
                  </a:lnTo>
                  <a:cubicBezTo>
                    <a:pt x="9006205" y="8517255"/>
                    <a:pt x="8334122" y="9189212"/>
                    <a:pt x="7505192" y="9189212"/>
                  </a:cubicBezTo>
                  <a:lnTo>
                    <a:pt x="1501013" y="9189212"/>
                  </a:lnTo>
                  <a:cubicBezTo>
                    <a:pt x="672084" y="9189339"/>
                    <a:pt x="0" y="8517255"/>
                    <a:pt x="0" y="7688199"/>
                  </a:cubicBezTo>
                  <a:close/>
                </a:path>
              </a:pathLst>
            </a:custGeom>
            <a:solidFill>
              <a:srgbClr val="1A233A"/>
            </a:solidFill>
            <a:ln w="28597" cap="sq">
              <a:solidFill>
                <a:srgbClr val="334155"/>
              </a:solidFill>
              <a:prstDash val="solid"/>
              <a:miter/>
            </a:ln>
          </p:spPr>
        </p:sp>
      </p:grpSp>
      <p:sp>
        <p:nvSpPr>
          <p:cNvPr name="TextBox 11" id="11"/>
          <p:cNvSpPr txBox="true"/>
          <p:nvPr/>
        </p:nvSpPr>
        <p:spPr>
          <a:xfrm rot="0">
            <a:off x="10798283" y="2743438"/>
            <a:ext cx="5994149" cy="6133214"/>
          </a:xfrm>
          <a:prstGeom prst="rect">
            <a:avLst/>
          </a:prstGeom>
        </p:spPr>
        <p:txBody>
          <a:bodyPr anchor="t" rtlCol="false" tIns="0" lIns="0" bIns="0" rIns="0">
            <a:spAutoFit/>
          </a:bodyPr>
          <a:lstStyle/>
          <a:p>
            <a:pPr algn="l">
              <a:lnSpc>
                <a:spcPts val="2521"/>
              </a:lnSpc>
            </a:pPr>
            <a:r>
              <a:rPr lang="en-US" sz="2101" b="true">
                <a:solidFill>
                  <a:srgbClr val="38BDF8"/>
                </a:solidFill>
                <a:latin typeface="Calibri (MS) Bold"/>
                <a:ea typeface="Calibri (MS) Bold"/>
                <a:cs typeface="Calibri (MS) Bold"/>
                <a:sym typeface="Calibri (MS) Bold"/>
              </a:rPr>
              <a:t>Đặc Điểm Phân Hóa Theo Nội Dung Ảnh</a:t>
            </a:r>
          </a:p>
          <a:p>
            <a:pPr algn="l">
              <a:lnSpc>
                <a:spcPts val="1981"/>
              </a:lnSpc>
            </a:pPr>
          </a:p>
          <a:p>
            <a:pPr algn="l">
              <a:lnSpc>
                <a:spcPts val="1981"/>
              </a:lnSpc>
            </a:pPr>
            <a:r>
              <a:rPr lang="en-US" sz="1651">
                <a:solidFill>
                  <a:srgbClr val="F8FAFC"/>
                </a:solidFill>
                <a:latin typeface="Calibri (MS)"/>
                <a:ea typeface="Calibri (MS)"/>
                <a:cs typeface="Calibri (MS)"/>
                <a:sym typeface="Calibri (MS)"/>
              </a:rPr>
              <a:t>• Nhóm ảnh TinyCAE vượt trội (ΔPSNR &gt; 0): Bao gồm các lớp Máy bay (+1,72 dB), Ô tô (+1,12 dB), Tàu thủy (+0,95 dB). Bề mặt vật thể nhân tạo có gradient liên tục giúp tích chập học sâu tái tạo viền mượt mà.</a:t>
            </a:r>
          </a:p>
          <a:p>
            <a:pPr algn="l">
              <a:lnSpc>
                <a:spcPts val="1981"/>
              </a:lnSpc>
            </a:pPr>
          </a:p>
          <a:p>
            <a:pPr algn="l">
              <a:lnSpc>
                <a:spcPts val="1981"/>
              </a:lnSpc>
            </a:pPr>
            <a:r>
              <a:rPr lang="en-US" sz="1651">
                <a:solidFill>
                  <a:srgbClr val="F8FAFC"/>
                </a:solidFill>
                <a:latin typeface="Calibri (MS)"/>
                <a:ea typeface="Calibri (MS)"/>
                <a:cs typeface="Calibri (MS)"/>
                <a:sym typeface="Calibri (MS)"/>
              </a:rPr>
              <a:t>• Nhóm ảnh JPEG vượt trội (ΔPSNR &lt; 0): Bao gồm các lớp Con chó (-1,44 dB), Con chim (-0,25 dB), Con ếch (-0,58 dB). Các họa tiết tần số cao như lông thú, da sần sùi được biểu diễn DCT ở bitrate cao giữ chi tiết tốt hơn mạng thu nhỏ.</a:t>
            </a:r>
          </a:p>
          <a:p>
            <a:pPr algn="l">
              <a:lnSpc>
                <a:spcPts val="1981"/>
              </a:lnSpc>
            </a:pPr>
          </a:p>
          <a:p>
            <a:pPr algn="l">
              <a:lnSpc>
                <a:spcPts val="1981"/>
              </a:lnSpc>
            </a:pPr>
            <a:r>
              <a:rPr lang="en-US" sz="1651">
                <a:solidFill>
                  <a:srgbClr val="F8FAFC"/>
                </a:solidFill>
                <a:latin typeface="Calibri (MS)"/>
                <a:ea typeface="Calibri (MS)"/>
                <a:cs typeface="Calibri (MS)"/>
                <a:sym typeface="Calibri (MS)"/>
              </a:rPr>
              <a:t>• Ý nghĩa khoa học: Kết quả chứng minh không có thuật toán nào tối ưu tuyệt đối cho mọi thể loại ảnh; lựa chọn bộ mã hóa trên IoT cần căn cứ theo hoạt cảnh cảm biến quan sát.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10. So Sánh Chất Lượng Tái Tạo Trực Quan (Visual Comparison)</a:t>
            </a:r>
          </a:p>
        </p:txBody>
      </p:sp>
      <p:grpSp>
        <p:nvGrpSpPr>
          <p:cNvPr name="Group 5" id="5"/>
          <p:cNvGrpSpPr/>
          <p:nvPr/>
        </p:nvGrpSpPr>
        <p:grpSpPr>
          <a:xfrm rot="0">
            <a:off x="5359623" y="2196274"/>
            <a:ext cx="7307932" cy="7612429"/>
            <a:chOff x="0" y="0"/>
            <a:chExt cx="20681594" cy="21543328"/>
          </a:xfrm>
        </p:grpSpPr>
        <p:sp>
          <p:nvSpPr>
            <p:cNvPr name="Freeform 6" id="6" descr="visual_reconstruction_grid.png"/>
            <p:cNvSpPr/>
            <p:nvPr/>
          </p:nvSpPr>
          <p:spPr>
            <a:xfrm flipH="false" flipV="false" rot="0">
              <a:off x="0" y="0"/>
              <a:ext cx="20681569" cy="21543390"/>
            </a:xfrm>
            <a:custGeom>
              <a:avLst/>
              <a:gdLst/>
              <a:ahLst/>
              <a:cxnLst/>
              <a:rect r="r" b="b" t="t" l="l"/>
              <a:pathLst>
                <a:path h="21543390" w="20681569">
                  <a:moveTo>
                    <a:pt x="0" y="0"/>
                  </a:moveTo>
                  <a:lnTo>
                    <a:pt x="20681569" y="0"/>
                  </a:lnTo>
                  <a:lnTo>
                    <a:pt x="20681569" y="21543390"/>
                  </a:lnTo>
                  <a:lnTo>
                    <a:pt x="0" y="21543390"/>
                  </a:lnTo>
                  <a:lnTo>
                    <a:pt x="0" y="0"/>
                  </a:lnTo>
                  <a:close/>
                </a:path>
              </a:pathLst>
            </a:custGeom>
            <a:blipFill>
              <a:blip r:embed="rId2"/>
              <a:stretch>
                <a:fillRect l="0" t="0" r="0" b="0"/>
              </a:stretch>
            </a:blipFill>
          </p:spPr>
        </p:sp>
      </p:gr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11. Đánh Giá Tiêu Thụ Bộ Nhớ &amp; Tài Nguyên ESP32</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34D399"/>
                </a:solidFill>
                <a:latin typeface="Calibri (MS) Bold"/>
                <a:ea typeface="Calibri (MS) Bold"/>
                <a:cs typeface="Calibri (MS) Bold"/>
                <a:sym typeface="Calibri (MS) Bold"/>
              </a:rPr>
              <a:t>Phân Bổ Vùng Nhớ Thực Tế Khi Hệ Thống Vận Hành</a:t>
            </a:r>
          </a:p>
          <a:p>
            <a:pPr algn="l">
              <a:lnSpc>
                <a:spcPts val="1981"/>
              </a:lnSpc>
            </a:pPr>
          </a:p>
          <a:p>
            <a:pPr algn="l">
              <a:lnSpc>
                <a:spcPts val="1981"/>
              </a:lnSpc>
            </a:pPr>
            <a:r>
              <a:rPr lang="en-US" sz="1651" b="true">
                <a:solidFill>
                  <a:srgbClr val="FBBF24"/>
                </a:solidFill>
                <a:latin typeface="Calibri (MS) Bold"/>
                <a:ea typeface="Calibri (MS) Bold"/>
                <a:cs typeface="Calibri (MS) Bold"/>
                <a:sym typeface="Calibri (MS) Bold"/>
              </a:rPr>
              <a:t>★ KẾT LUẬN TÀI NGUYÊN: Chiến lược đưa Tensor Arena lên PSRAM ngoài giúp hệ thống chạy hoàn toàn ổn định, không gây tràn ngăn xếp (Stack Overflow) hay thiếu hụt heap nội bộ của chip.</a:t>
            </a:r>
          </a:p>
        </p:txBody>
      </p:sp>
      <p:graphicFrame>
        <p:nvGraphicFramePr>
          <p:cNvPr name="Table 8" id="8"/>
          <p:cNvGraphicFramePr>
            <a:graphicFrameLocks noGrp="true"/>
          </p:cNvGraphicFramePr>
          <p:nvPr/>
        </p:nvGraphicFramePr>
        <p:xfrm>
          <a:off x="1544027" y="4274186"/>
          <a:ext cx="15213786" cy="3774849"/>
        </p:xfrm>
        <a:graphic>
          <a:graphicData uri="http://schemas.openxmlformats.org/drawingml/2006/table">
            <a:tbl>
              <a:tblPr/>
              <a:tblGrid>
                <a:gridCol w="4385956"/>
                <a:gridCol w="3015345"/>
                <a:gridCol w="3015345"/>
                <a:gridCol w="4797140"/>
              </a:tblGrid>
              <a:tr h="629142">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Thành Phần Bộ Nhớ</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Vị Trí Cấp Phát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Dung Lượng Sử Dụng</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c>
                  <a:txBody>
                    <a:bodyPr anchor="t" rtlCol="false"/>
                    <a:lstStyle/>
                    <a:p>
                      <a:pPr algn="l">
                        <a:lnSpc>
                          <a:spcPts val="1981"/>
                        </a:lnSpc>
                        <a:defRPr/>
                      </a:pPr>
                      <a:r>
                        <a:rPr lang="en-US" sz="1651" b="true">
                          <a:solidFill>
                            <a:srgbClr val="38BDF8"/>
                          </a:solidFill>
                          <a:latin typeface="Calibri (MS) Bold"/>
                          <a:ea typeface="Calibri (MS) Bold"/>
                          <a:cs typeface="Calibri (MS) Bold"/>
                          <a:sym typeface="Calibri (MS) Bold"/>
                        </a:rPr>
                        <a:t>Trạng Thái &amp; Mức Độ An Toàn</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E293B"/>
                    </a:solidFill>
                  </a:tcPr>
                </a:tc>
              </a:tr>
              <a:tr h="629142">
                <a:tc>
                  <a:txBody>
                    <a:bodyPr anchor="t" rtlCol="false"/>
                    <a:lstStyle/>
                    <a:p>
                      <a:pPr algn="l">
                        <a:lnSpc>
                          <a:spcPts val="1891"/>
                        </a:lnSpc>
                        <a:defRPr/>
                      </a:pPr>
                      <a:r>
                        <a:rPr lang="en-US" sz="1576">
                          <a:solidFill>
                            <a:srgbClr val="F8FAFC"/>
                          </a:solidFill>
                          <a:latin typeface="Calibri (MS)"/>
                          <a:ea typeface="Calibri (MS)"/>
                          <a:cs typeface="Calibri (MS)"/>
                          <a:sym typeface="Calibri (MS)"/>
                        </a:rPr>
                        <a:t>Kích thước tệp mô hình (Flash)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SPI Flash (ROData)</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9.560 Bytes (~9,5 KB)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Rất nhỏ, chiếm &lt; 0,25% Flash 4 MB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629142">
                <a:tc>
                  <a:txBody>
                    <a:bodyPr anchor="t" rtlCol="false"/>
                    <a:lstStyle/>
                    <a:p>
                      <a:pPr algn="l">
                        <a:lnSpc>
                          <a:spcPts val="1891"/>
                        </a:lnSpc>
                        <a:defRPr/>
                      </a:pPr>
                      <a:r>
                        <a:rPr lang="en-US" sz="1576">
                          <a:solidFill>
                            <a:srgbClr val="F8FAFC"/>
                          </a:solidFill>
                          <a:latin typeface="Calibri (MS)"/>
                          <a:ea typeface="Calibri (MS)"/>
                          <a:cs typeface="Calibri (MS)"/>
                          <a:sym typeface="Calibri (MS)"/>
                        </a:rPr>
                        <a:t>Tensor Arena (TFLite Micro)</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SPI PSRAM ngoài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131.072 Bytes (128 KiB)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Được cấp phát từ PSRAM, không ảnh hưởng SRAM nội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r h="629142">
                <a:tc>
                  <a:txBody>
                    <a:bodyPr anchor="t" rtlCol="false"/>
                    <a:lstStyle/>
                    <a:p>
                      <a:pPr algn="l">
                        <a:lnSpc>
                          <a:spcPts val="1891"/>
                        </a:lnSpc>
                        <a:defRPr/>
                      </a:pPr>
                      <a:r>
                        <a:rPr lang="en-US" sz="1576">
                          <a:solidFill>
                            <a:srgbClr val="F8FAFC"/>
                          </a:solidFill>
                          <a:latin typeface="Calibri (MS)"/>
                          <a:ea typeface="Calibri (MS)"/>
                          <a:cs typeface="Calibri (MS)"/>
                          <a:sym typeface="Calibri (MS)"/>
                        </a:rPr>
                        <a:t>Bộ đệm mã hóa JPEG (Output)</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SPI PSRAM ngoài</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8.192 Bytes (8 KiB)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Cấp phát an toàn trên PSRAM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r h="629142">
                <a:tc>
                  <a:txBody>
                    <a:bodyPr anchor="t" rtlCol="false"/>
                    <a:lstStyle/>
                    <a:p>
                      <a:pPr algn="l">
                        <a:lnSpc>
                          <a:spcPts val="1891"/>
                        </a:lnSpc>
                        <a:defRPr/>
                      </a:pPr>
                      <a:r>
                        <a:rPr lang="en-US" sz="1576">
                          <a:solidFill>
                            <a:srgbClr val="F8FAFC"/>
                          </a:solidFill>
                          <a:latin typeface="Calibri (MS)"/>
                          <a:ea typeface="Calibri (MS)"/>
                          <a:cs typeface="Calibri (MS)"/>
                          <a:sym typeface="Calibri (MS)"/>
                        </a:rPr>
                        <a:t>SRAM nội bộ tự do (Internal Free Heap)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Internal SRAM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287.155 Bytes (~280 KiB)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Rất dồi dào, đảm bảo hệ điều hành FreeRTOS ổn định</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A233A"/>
                    </a:solidFill>
                  </a:tcPr>
                </a:tc>
              </a:tr>
              <a:tr h="629142">
                <a:tc>
                  <a:txBody>
                    <a:bodyPr anchor="t" rtlCol="false"/>
                    <a:lstStyle/>
                    <a:p>
                      <a:pPr algn="l">
                        <a:lnSpc>
                          <a:spcPts val="1891"/>
                        </a:lnSpc>
                        <a:defRPr/>
                      </a:pPr>
                      <a:r>
                        <a:rPr lang="en-US" sz="1576">
                          <a:solidFill>
                            <a:srgbClr val="F8FAFC"/>
                          </a:solidFill>
                          <a:latin typeface="Calibri (MS)"/>
                          <a:ea typeface="Calibri (MS)"/>
                          <a:cs typeface="Calibri (MS)"/>
                          <a:sym typeface="Calibri (MS)"/>
                        </a:rPr>
                        <a:t>PSRAM tự do (PSRAM Free Heap)</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External PSRAM</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4.050.484 Bytes (&gt; 4,05 MiB)</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c>
                  <a:txBody>
                    <a:bodyPr anchor="t" rtlCol="false"/>
                    <a:lstStyle/>
                    <a:p>
                      <a:pPr algn="l">
                        <a:lnSpc>
                          <a:spcPts val="1891"/>
                        </a:lnSpc>
                        <a:defRPr/>
                      </a:pPr>
                      <a:r>
                        <a:rPr lang="en-US" sz="1576">
                          <a:solidFill>
                            <a:srgbClr val="F8FAFC"/>
                          </a:solidFill>
                          <a:latin typeface="Calibri (MS)"/>
                          <a:ea typeface="Calibri (MS)"/>
                          <a:cs typeface="Calibri (MS)"/>
                          <a:sym typeface="Calibri (MS)"/>
                        </a:rPr>
                        <a:t>Dung lượng còn trống tới 96%</a:t>
                      </a:r>
                      <a:endParaRPr lang="en-US" sz="1100"/>
                    </a:p>
                  </a:txBody>
                  <a:tcPr marL="91440" marR="91440" marT="91440" marB="9144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141C30"/>
                    </a:solidFill>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12. Ứng Dụng Desktop Demo Tương Tác Trực Tiếp</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60A5FA"/>
                </a:solidFill>
                <a:latin typeface="Calibri (MS) Bold"/>
                <a:ea typeface="Calibri (MS) Bold"/>
                <a:cs typeface="Calibri (MS) Bold"/>
                <a:sym typeface="Calibri (MS) Bold"/>
              </a:rPr>
              <a:t>Sản Phẩm Trình Diễn Nghiệm Thu: Desktop GUI (Tkinter Native)</a:t>
            </a:r>
          </a:p>
          <a:p>
            <a:pPr algn="l">
              <a:lnSpc>
                <a:spcPts val="2071"/>
              </a:lnSpc>
            </a:pPr>
            <a:r>
              <a:rPr lang="en-US" sz="1726">
                <a:solidFill>
                  <a:srgbClr val="F8FAFC"/>
                </a:solidFill>
                <a:latin typeface="Calibri (MS)"/>
                <a:ea typeface="Calibri (MS)"/>
                <a:cs typeface="Calibri (MS)"/>
                <a:sym typeface="Calibri (MS)"/>
              </a:rPr>
              <a:t>• Khởi chạy nhanh chóng bằng 1 cú nhấp chuột: Tệp run_demo_gui.bat tự động kích hoạt môi trường Python và mở giao diện ứng dụng desktop.</a:t>
            </a:r>
          </a:p>
          <a:p>
            <a:pPr algn="l">
              <a:lnSpc>
                <a:spcPts val="2071"/>
              </a:lnSpc>
            </a:pPr>
            <a:r>
              <a:rPr lang="en-US" sz="1726">
                <a:solidFill>
                  <a:srgbClr val="F8FAFC"/>
                </a:solidFill>
                <a:latin typeface="Calibri (MS)"/>
                <a:ea typeface="Calibri (MS)"/>
                <a:cs typeface="Calibri (MS)"/>
                <a:sym typeface="Calibri (MS)"/>
              </a:rPr>
              <a:t>• Giao tiếp phần cứng thực tế 100%: Kết nối trực tiếp qua USB-UART COM5 @ 115200 baud với bo ESP32 thật; không dùng chế độ mô phỏng.</a:t>
            </a:r>
          </a:p>
          <a:p>
            <a:pPr algn="l">
              <a:lnSpc>
                <a:spcPts val="2071"/>
              </a:lnSpc>
            </a:pPr>
            <a:r>
              <a:rPr lang="en-US" sz="1726">
                <a:solidFill>
                  <a:srgbClr val="F8FAFC"/>
                </a:solidFill>
                <a:latin typeface="Calibri (MS)"/>
                <a:ea typeface="Calibri (MS)"/>
                <a:cs typeface="Calibri (MS)"/>
                <a:sym typeface="Calibri (MS)"/>
              </a:rPr>
              <a:t>• Hiển thị ảnh kích thước lớn &amp; cực nét (220 × 220 pixel): Sử dụng thuật toán nội suy Nearest-Neighbor để phóng đại ảnh gốc 32x32 và ảnh tái tạo rõ từng pixel khi quay video màn hình.</a:t>
            </a:r>
          </a:p>
          <a:p>
            <a:pPr algn="l">
              <a:lnSpc>
                <a:spcPts val="2071"/>
              </a:lnSpc>
            </a:pPr>
            <a:r>
              <a:rPr lang="en-US" sz="1726">
                <a:solidFill>
                  <a:srgbClr val="F8FAFC"/>
                </a:solidFill>
                <a:latin typeface="Calibri (MS)"/>
                <a:ea typeface="Calibri (MS)"/>
                <a:cs typeface="Calibri (MS)"/>
                <a:sym typeface="Calibri (MS)"/>
              </a:rPr>
              <a:t>• Thao tác trực quan &amp; Linh hoạt: Cho phép chọn các ảnh mẫu CIFAR-10 hoặc tải ảnh bất kỳ từ máy tính cá nhân lên để kiểm tra tính tổng quát.</a:t>
            </a:r>
          </a:p>
          <a:p>
            <a:pPr algn="l">
              <a:lnSpc>
                <a:spcPts val="2071"/>
              </a:lnSpc>
            </a:pPr>
            <a:r>
              <a:rPr lang="en-US" sz="1726">
                <a:solidFill>
                  <a:srgbClr val="F8FAFC"/>
                </a:solidFill>
                <a:latin typeface="Calibri (MS)"/>
                <a:ea typeface="Calibri (MS)"/>
                <a:cs typeface="Calibri (MS)"/>
                <a:sym typeface="Calibri (MS)"/>
              </a:rPr>
              <a:t>• Thanh kết quả đối chứng tức thì: Hiển thị tức thì chênh lệch ΔPSNR, ΔSSIM, tỷ lệ tăng tốc độ và dung lượng gói dữ liệu sau mỗi lượt nén.</a:t>
            </a:r>
          </a:p>
          <a:p>
            <a:pPr algn="l">
              <a:lnSpc>
                <a:spcPts val="2071"/>
              </a:lnSpc>
            </a:pPr>
            <a:r>
              <a:rPr lang="en-US" sz="1726">
                <a:solidFill>
                  <a:srgbClr val="F8FAFC"/>
                </a:solidFill>
                <a:latin typeface="Calibri (MS)"/>
                <a:ea typeface="Calibri (MS)"/>
                <a:cs typeface="Calibri (MS)"/>
                <a:sym typeface="Calibri (MS)"/>
              </a:rPr>
              <a:t>• Bảng điều khiển UART Telemetry: Quan sát trực tiếp các byte lệnh PING, TINYCAE, JPEG gửi đi và phản hồi nhị phân trả về từ bo ESP32.</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13. Đóng Góp Kỹ Thuật &amp; Giới Hạn Của Đề Tài</a:t>
            </a:r>
          </a:p>
        </p:txBody>
      </p:sp>
      <p:grpSp>
        <p:nvGrpSpPr>
          <p:cNvPr name="Group 5" id="5"/>
          <p:cNvGrpSpPr/>
          <p:nvPr/>
        </p:nvGrpSpPr>
        <p:grpSpPr>
          <a:xfrm rot="0">
            <a:off x="1083840" y="2456507"/>
            <a:ext cx="7715564" cy="6891957"/>
            <a:chOff x="0" y="0"/>
            <a:chExt cx="10287419" cy="9189276"/>
          </a:xfrm>
        </p:grpSpPr>
        <p:sp>
          <p:nvSpPr>
            <p:cNvPr name="Freeform 6" id="6"/>
            <p:cNvSpPr/>
            <p:nvPr/>
          </p:nvSpPr>
          <p:spPr>
            <a:xfrm flipH="false" flipV="false" rot="0">
              <a:off x="0" y="0"/>
              <a:ext cx="10287508" cy="9189338"/>
            </a:xfrm>
            <a:custGeom>
              <a:avLst/>
              <a:gdLst/>
              <a:ahLst/>
              <a:cxnLst/>
              <a:rect r="r" b="b" t="t" l="l"/>
              <a:pathLst>
                <a:path h="9189338" w="10287508">
                  <a:moveTo>
                    <a:pt x="0" y="1531620"/>
                  </a:moveTo>
                  <a:cubicBezTo>
                    <a:pt x="0" y="685673"/>
                    <a:pt x="685673" y="0"/>
                    <a:pt x="1531620" y="0"/>
                  </a:cubicBezTo>
                  <a:lnTo>
                    <a:pt x="8755888" y="0"/>
                  </a:lnTo>
                  <a:cubicBezTo>
                    <a:pt x="9601708" y="0"/>
                    <a:pt x="10287508" y="685673"/>
                    <a:pt x="10287508" y="1531620"/>
                  </a:cubicBezTo>
                  <a:lnTo>
                    <a:pt x="10287508" y="7657719"/>
                  </a:lnTo>
                  <a:cubicBezTo>
                    <a:pt x="10287508" y="8503538"/>
                    <a:pt x="9601835" y="9189338"/>
                    <a:pt x="8755888"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6680483" cy="6142739"/>
          </a:xfrm>
          <a:prstGeom prst="rect">
            <a:avLst/>
          </a:prstGeom>
        </p:spPr>
        <p:txBody>
          <a:bodyPr anchor="t" rtlCol="false" tIns="0" lIns="0" bIns="0" rIns="0">
            <a:spAutoFit/>
          </a:bodyPr>
          <a:lstStyle/>
          <a:p>
            <a:pPr algn="l">
              <a:lnSpc>
                <a:spcPts val="2702"/>
              </a:lnSpc>
            </a:pPr>
            <a:r>
              <a:rPr lang="en-US" sz="2251" b="true">
                <a:solidFill>
                  <a:srgbClr val="34D399"/>
                </a:solidFill>
                <a:latin typeface="Calibri (MS) Bold"/>
                <a:ea typeface="Calibri (MS) Bold"/>
                <a:cs typeface="Calibri (MS) Bold"/>
                <a:sym typeface="Calibri (MS) Bold"/>
              </a:rPr>
              <a:t>Đóng Góp Kỹ Thuật Nổi Bật</a:t>
            </a:r>
          </a:p>
          <a:p>
            <a:pPr algn="l">
              <a:lnSpc>
                <a:spcPts val="1981"/>
              </a:lnSpc>
            </a:pPr>
          </a:p>
          <a:p>
            <a:pPr algn="l">
              <a:lnSpc>
                <a:spcPts val="1981"/>
              </a:lnSpc>
            </a:pPr>
            <a:r>
              <a:rPr lang="en-US" sz="1651">
                <a:solidFill>
                  <a:srgbClr val="F8FAFC"/>
                </a:solidFill>
                <a:latin typeface="Calibri (MS)"/>
                <a:ea typeface="Calibri (MS)"/>
                <a:cs typeface="Calibri (MS)"/>
                <a:sym typeface="Calibri (MS)"/>
              </a:rPr>
              <a:t>• Khả thi hóa TinyML nén ảnh: Chứng minh mạng nén ảnh tích chập hoàn toàn có thể chạy ổn định trên vi điều khiển giá rẻ ESP32 với bộ nhớ mô hình chỉ 9,5 KB.</a:t>
            </a:r>
          </a:p>
          <a:p>
            <a:pPr algn="l">
              <a:lnSpc>
                <a:spcPts val="1981"/>
              </a:lnSpc>
            </a:pPr>
          </a:p>
          <a:p>
            <a:pPr algn="l">
              <a:lnSpc>
                <a:spcPts val="1981"/>
              </a:lnSpc>
            </a:pPr>
            <a:r>
              <a:rPr lang="en-US" sz="1651">
                <a:solidFill>
                  <a:srgbClr val="F8FAFC"/>
                </a:solidFill>
                <a:latin typeface="Calibri (MS)"/>
                <a:ea typeface="Calibri (MS)"/>
                <a:cs typeface="Calibri (MS)"/>
                <a:sym typeface="Calibri (MS)"/>
              </a:rPr>
              <a:t>• Lợi thế kích thước cố định trong IoT: Gói dữ liệu 1.024 Bytes cố định giúp thiết kế giao thức mạng không dây đơn giản, không bị phân mảnh gói và dự đoán chính xác chi phí năng lượng truyền.</a:t>
            </a:r>
          </a:p>
          <a:p>
            <a:pPr algn="l">
              <a:lnSpc>
                <a:spcPts val="1981"/>
              </a:lnSpc>
            </a:pPr>
          </a:p>
          <a:p>
            <a:pPr algn="l">
              <a:lnSpc>
                <a:spcPts val="1981"/>
              </a:lnSpc>
            </a:pPr>
            <a:r>
              <a:rPr lang="en-US" sz="1651">
                <a:solidFill>
                  <a:srgbClr val="F8FAFC"/>
                </a:solidFill>
                <a:latin typeface="Calibri (MS)"/>
                <a:ea typeface="Calibri (MS)"/>
                <a:cs typeface="Calibri (MS)"/>
                <a:sym typeface="Calibri (MS)"/>
              </a:rPr>
              <a:t>• Quy trình thực nghiệm chuẩn mực: Xây dựng pipeline có thể tái lập 100%, khóa tham số đối chứng minh bạch, đo thời gian t_core loại trừ nhiễu UART.</a:t>
            </a:r>
          </a:p>
        </p:txBody>
      </p:sp>
      <p:grpSp>
        <p:nvGrpSpPr>
          <p:cNvPr name="Group 8" id="8"/>
          <p:cNvGrpSpPr/>
          <p:nvPr/>
        </p:nvGrpSpPr>
        <p:grpSpPr>
          <a:xfrm rot="0">
            <a:off x="9319870" y="2456507"/>
            <a:ext cx="7852829" cy="6891957"/>
            <a:chOff x="0" y="0"/>
            <a:chExt cx="10470439" cy="9189276"/>
          </a:xfrm>
        </p:grpSpPr>
        <p:sp>
          <p:nvSpPr>
            <p:cNvPr name="Freeform 9" id="9"/>
            <p:cNvSpPr/>
            <p:nvPr/>
          </p:nvSpPr>
          <p:spPr>
            <a:xfrm flipH="false" flipV="false" rot="0">
              <a:off x="0" y="0"/>
              <a:ext cx="10470514" cy="9189338"/>
            </a:xfrm>
            <a:custGeom>
              <a:avLst/>
              <a:gdLst/>
              <a:ahLst/>
              <a:cxnLst/>
              <a:rect r="r" b="b" t="t" l="l"/>
              <a:pathLst>
                <a:path h="9189338" w="10470514">
                  <a:moveTo>
                    <a:pt x="0" y="1531620"/>
                  </a:moveTo>
                  <a:cubicBezTo>
                    <a:pt x="0" y="685673"/>
                    <a:pt x="685673" y="0"/>
                    <a:pt x="1531620" y="0"/>
                  </a:cubicBezTo>
                  <a:lnTo>
                    <a:pt x="8938895" y="0"/>
                  </a:lnTo>
                  <a:cubicBezTo>
                    <a:pt x="9784714" y="0"/>
                    <a:pt x="10470514" y="685673"/>
                    <a:pt x="10470514" y="1531620"/>
                  </a:cubicBezTo>
                  <a:lnTo>
                    <a:pt x="10470514" y="7657719"/>
                  </a:lnTo>
                  <a:cubicBezTo>
                    <a:pt x="10470514" y="8503538"/>
                    <a:pt x="9784842" y="9189338"/>
                    <a:pt x="8938895"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10" id="10"/>
          <p:cNvSpPr txBox="true"/>
          <p:nvPr/>
        </p:nvSpPr>
        <p:spPr>
          <a:xfrm rot="0">
            <a:off x="9837410" y="2733913"/>
            <a:ext cx="6817747" cy="6142739"/>
          </a:xfrm>
          <a:prstGeom prst="rect">
            <a:avLst/>
          </a:prstGeom>
        </p:spPr>
        <p:txBody>
          <a:bodyPr anchor="t" rtlCol="false" tIns="0" lIns="0" bIns="0" rIns="0">
            <a:spAutoFit/>
          </a:bodyPr>
          <a:lstStyle/>
          <a:p>
            <a:pPr algn="l">
              <a:lnSpc>
                <a:spcPts val="2702"/>
              </a:lnSpc>
            </a:pPr>
            <a:r>
              <a:rPr lang="en-US" sz="2251" b="true">
                <a:solidFill>
                  <a:srgbClr val="FBBF24"/>
                </a:solidFill>
                <a:latin typeface="Calibri (MS) Bold"/>
                <a:ea typeface="Calibri (MS) Bold"/>
                <a:cs typeface="Calibri (MS) Bold"/>
                <a:sym typeface="Calibri (MS) Bold"/>
              </a:rPr>
              <a:t>Các Giới Hạn Còn Tồn Tại</a:t>
            </a:r>
          </a:p>
          <a:p>
            <a:pPr algn="l">
              <a:lnSpc>
                <a:spcPts val="1981"/>
              </a:lnSpc>
            </a:pPr>
          </a:p>
          <a:p>
            <a:pPr algn="l">
              <a:lnSpc>
                <a:spcPts val="1981"/>
              </a:lnSpc>
            </a:pPr>
            <a:r>
              <a:rPr lang="en-US" sz="1651">
                <a:solidFill>
                  <a:srgbClr val="F8FAFC"/>
                </a:solidFill>
                <a:latin typeface="Calibri (MS)"/>
                <a:ea typeface="Calibri (MS)"/>
                <a:cs typeface="Calibri (MS)"/>
                <a:sym typeface="Calibri (MS)"/>
              </a:rPr>
              <a:t>• Kích thước ảnh còn nhỏ: Mô hình mới thử nghiệm trên ảnh 32 × 32 (CIFAR-10), chưa mở rộng lên ảnh camera thực tế độ phân giải cao (QVGA / VGA).</a:t>
            </a:r>
          </a:p>
          <a:p>
            <a:pPr algn="l">
              <a:lnSpc>
                <a:spcPts val="1981"/>
              </a:lnSpc>
            </a:pPr>
          </a:p>
          <a:p>
            <a:pPr algn="l">
              <a:lnSpc>
                <a:spcPts val="1981"/>
              </a:lnSpc>
            </a:pPr>
            <a:r>
              <a:rPr lang="en-US" sz="1651">
                <a:solidFill>
                  <a:srgbClr val="F8FAFC"/>
                </a:solidFill>
                <a:latin typeface="Calibri (MS)"/>
                <a:ea typeface="Calibri (MS)"/>
                <a:cs typeface="Calibri (MS)"/>
                <a:sym typeface="Calibri (MS)"/>
              </a:rPr>
              <a:t>• Tốc độ xử lý chưa tối ưu: Thời gian 60,7 ms của TinyCAE chậm hơn 25 lần so với JPEG (2,4 ms) do chip ESP32 đời đầu chưa có tập lệnh SIMD/Vector chuyên dụng cho AI.</a:t>
            </a:r>
          </a:p>
          <a:p>
            <a:pPr algn="l">
              <a:lnSpc>
                <a:spcPts val="1981"/>
              </a:lnSpc>
            </a:pPr>
          </a:p>
          <a:p>
            <a:pPr algn="l">
              <a:lnSpc>
                <a:spcPts val="1981"/>
              </a:lnSpc>
            </a:pPr>
            <a:r>
              <a:rPr lang="en-US" sz="1651">
                <a:solidFill>
                  <a:srgbClr val="F8FAFC"/>
                </a:solidFill>
                <a:latin typeface="Calibri (MS)"/>
                <a:ea typeface="Calibri (MS)"/>
                <a:cs typeface="Calibri (MS)"/>
                <a:sym typeface="Calibri (MS)"/>
              </a:rPr>
              <a:t>• Chưa tích hợp Entropy Coding: Bitstream latent INT8 được truyền trực tiếp dạng thô, chưa kết hợp Huffman/rANS để giảm dung lượng sâu hơn.</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1098137" y="686333"/>
            <a:ext cx="16105565" cy="1509941"/>
          </a:xfrm>
          <a:prstGeom prst="rect">
            <a:avLst/>
          </a:prstGeom>
        </p:spPr>
        <p:txBody>
          <a:bodyPr anchor="t" rtlCol="false" tIns="0" lIns="0" bIns="0" rIns="0">
            <a:spAutoFit/>
          </a:bodyPr>
          <a:lstStyle/>
          <a:p>
            <a:pPr algn="l">
              <a:lnSpc>
                <a:spcPts val="1801"/>
              </a:lnSpc>
            </a:pPr>
            <a:r>
              <a:rPr lang="en-US" sz="1501" b="true">
                <a:solidFill>
                  <a:srgbClr val="38BDF8"/>
                </a:solidFill>
                <a:latin typeface="Segoe UI Bold"/>
                <a:ea typeface="Segoe UI Bold"/>
                <a:cs typeface="Segoe UI Bold"/>
                <a:sym typeface="Segoe UI Bold"/>
              </a:rPr>
              <a:t>TIỂU LUẬN CUỐI KỲ - TRÍ TUỆ NHÂN TẠO CHO IOT</a:t>
            </a:r>
          </a:p>
          <a:p>
            <a:pPr algn="l">
              <a:lnSpc>
                <a:spcPts val="3963"/>
              </a:lnSpc>
            </a:pPr>
            <a:r>
              <a:rPr lang="en-US" sz="3302" b="true">
                <a:solidFill>
                  <a:srgbClr val="F8FAFC"/>
                </a:solidFill>
                <a:latin typeface="Segoe UI Bold"/>
                <a:ea typeface="Segoe UI Bold"/>
                <a:cs typeface="Segoe UI Bold"/>
                <a:sym typeface="Segoe UI Bold"/>
              </a:rPr>
              <a:t>14. Hướng Phát Triển Tiếp Theo</a:t>
            </a:r>
          </a:p>
        </p:txBody>
      </p:sp>
      <p:grpSp>
        <p:nvGrpSpPr>
          <p:cNvPr name="Group 5" id="5"/>
          <p:cNvGrpSpPr/>
          <p:nvPr/>
        </p:nvGrpSpPr>
        <p:grpSpPr>
          <a:xfrm rot="0">
            <a:off x="1083840" y="2456507"/>
            <a:ext cx="16134159" cy="6891957"/>
            <a:chOff x="0" y="0"/>
            <a:chExt cx="21512212" cy="9189276"/>
          </a:xfrm>
        </p:grpSpPr>
        <p:sp>
          <p:nvSpPr>
            <p:cNvPr name="Freeform 6" id="6"/>
            <p:cNvSpPr/>
            <p:nvPr/>
          </p:nvSpPr>
          <p:spPr>
            <a:xfrm flipH="false" flipV="false" rot="0">
              <a:off x="0" y="0"/>
              <a:ext cx="21512276" cy="9189338"/>
            </a:xfrm>
            <a:custGeom>
              <a:avLst/>
              <a:gdLst/>
              <a:ahLst/>
              <a:cxnLst/>
              <a:rect r="r" b="b" t="t" l="l"/>
              <a:pathLst>
                <a:path h="9189338" w="21512276">
                  <a:moveTo>
                    <a:pt x="0" y="1531620"/>
                  </a:moveTo>
                  <a:cubicBezTo>
                    <a:pt x="0" y="685673"/>
                    <a:pt x="685673" y="0"/>
                    <a:pt x="1531620" y="0"/>
                  </a:cubicBezTo>
                  <a:lnTo>
                    <a:pt x="19980656" y="0"/>
                  </a:lnTo>
                  <a:cubicBezTo>
                    <a:pt x="20826476" y="0"/>
                    <a:pt x="21512276" y="685673"/>
                    <a:pt x="21512276" y="1531620"/>
                  </a:cubicBezTo>
                  <a:lnTo>
                    <a:pt x="21512276" y="7657719"/>
                  </a:lnTo>
                  <a:cubicBezTo>
                    <a:pt x="21512276" y="8503538"/>
                    <a:pt x="20826603" y="9189338"/>
                    <a:pt x="19980656" y="9189338"/>
                  </a:cubicBezTo>
                  <a:lnTo>
                    <a:pt x="1531620" y="9189338"/>
                  </a:lnTo>
                  <a:cubicBezTo>
                    <a:pt x="685673" y="9189339"/>
                    <a:pt x="0" y="8503539"/>
                    <a:pt x="0" y="7657719"/>
                  </a:cubicBezTo>
                  <a:close/>
                </a:path>
              </a:pathLst>
            </a:custGeom>
            <a:solidFill>
              <a:srgbClr val="1A233A"/>
            </a:solidFill>
            <a:ln w="28597" cap="sq">
              <a:solidFill>
                <a:srgbClr val="334155"/>
              </a:solidFill>
              <a:prstDash val="solid"/>
              <a:miter/>
            </a:ln>
          </p:spPr>
        </p:sp>
      </p:grpSp>
      <p:sp>
        <p:nvSpPr>
          <p:cNvPr name="TextBox 7" id="7"/>
          <p:cNvSpPr txBox="true"/>
          <p:nvPr/>
        </p:nvSpPr>
        <p:spPr>
          <a:xfrm rot="0">
            <a:off x="1601381" y="2733913"/>
            <a:ext cx="15053786" cy="6142739"/>
          </a:xfrm>
          <a:prstGeom prst="rect">
            <a:avLst/>
          </a:prstGeom>
        </p:spPr>
        <p:txBody>
          <a:bodyPr anchor="t" rtlCol="false" tIns="0" lIns="0" bIns="0" rIns="0">
            <a:spAutoFit/>
          </a:bodyPr>
          <a:lstStyle/>
          <a:p>
            <a:pPr algn="l">
              <a:lnSpc>
                <a:spcPts val="2702"/>
              </a:lnSpc>
            </a:pPr>
            <a:r>
              <a:rPr lang="en-US" sz="2251" b="true">
                <a:solidFill>
                  <a:srgbClr val="38BDF8"/>
                </a:solidFill>
                <a:latin typeface="Calibri (MS) Bold"/>
                <a:ea typeface="Calibri (MS) Bold"/>
                <a:cs typeface="Calibri (MS) Bold"/>
                <a:sym typeface="Calibri (MS) Bold"/>
              </a:rPr>
              <a:t>Định Hướng Nâng Cấp Hệ Thống Cho Ứng Dụng Thực Tế</a:t>
            </a:r>
          </a:p>
          <a:p>
            <a:pPr algn="l">
              <a:lnSpc>
                <a:spcPts val="2161"/>
              </a:lnSpc>
            </a:pPr>
          </a:p>
          <a:p>
            <a:pPr algn="l">
              <a:lnSpc>
                <a:spcPts val="2161"/>
              </a:lnSpc>
            </a:pPr>
            <a:r>
              <a:rPr lang="en-US" sz="1801">
                <a:solidFill>
                  <a:srgbClr val="F8FAFC"/>
                </a:solidFill>
                <a:latin typeface="Calibri (MS)"/>
                <a:ea typeface="Calibri (MS)"/>
                <a:cs typeface="Calibri (MS)"/>
                <a:sym typeface="Calibri (MS)"/>
              </a:rPr>
              <a:t>• Nâng cấp vi điều khiển lên ESP32-S3: Tận dụng tập lệnh tăng tốc trí tuệ nhân tạo (ESP-NN Vector Instructions - PIE) trên chip ESP32-S3, dự kiến có thể giảm thời gian nén của TinyCAE xuống dưới 10 ms.</a:t>
            </a:r>
          </a:p>
          <a:p>
            <a:pPr algn="l">
              <a:lnSpc>
                <a:spcPts val="2161"/>
              </a:lnSpc>
            </a:pPr>
          </a:p>
          <a:p>
            <a:pPr algn="l">
              <a:lnSpc>
                <a:spcPts val="2161"/>
              </a:lnSpc>
            </a:pPr>
            <a:r>
              <a:rPr lang="en-US" sz="1801">
                <a:solidFill>
                  <a:srgbClr val="F8FAFC"/>
                </a:solidFill>
                <a:latin typeface="Calibri (MS)"/>
                <a:ea typeface="Calibri (MS)"/>
                <a:cs typeface="Calibri (MS)"/>
                <a:sym typeface="Calibri (MS)"/>
              </a:rPr>
              <a:t>• Nén ảnh độ phân giải lớn theo khối (Patch-based Compression): Chia nhỏ khung hình camera QVGA (320 × 240) thành các khối 32 × 32 hoặc 64 × 64 để nén song song mà không làm tràn bộ nhớ SRAM của thiết bị.</a:t>
            </a:r>
          </a:p>
          <a:p>
            <a:pPr algn="l">
              <a:lnSpc>
                <a:spcPts val="2161"/>
              </a:lnSpc>
            </a:pPr>
          </a:p>
          <a:p>
            <a:pPr algn="l">
              <a:lnSpc>
                <a:spcPts val="2161"/>
              </a:lnSpc>
            </a:pPr>
            <a:r>
              <a:rPr lang="en-US" sz="1801">
                <a:solidFill>
                  <a:srgbClr val="F8FAFC"/>
                </a:solidFill>
                <a:latin typeface="Calibri (MS)"/>
                <a:ea typeface="Calibri (MS)"/>
                <a:cs typeface="Calibri (MS)"/>
                <a:sym typeface="Calibri (MS)"/>
              </a:rPr>
              <a:t>• Kết hợp mã hóa Entropy trên vi điều khiển: Áp dụng thuật toán Huffman rút gọn hoặc Range Coder (rANS) cho phân phối latent INT8, kỳ vọng giảm kích thước gói từ 1.024 Bytes xuống còn 400 - 600 Bytes mà không suy giảm chất lượng.</a:t>
            </a:r>
          </a:p>
          <a:p>
            <a:pPr algn="l">
              <a:lnSpc>
                <a:spcPts val="2161"/>
              </a:lnSpc>
            </a:pPr>
          </a:p>
          <a:p>
            <a:pPr algn="l">
              <a:lnSpc>
                <a:spcPts val="2161"/>
              </a:lnSpc>
            </a:pPr>
            <a:r>
              <a:rPr lang="en-US" sz="1801">
                <a:solidFill>
                  <a:srgbClr val="F8FAFC"/>
                </a:solidFill>
                <a:latin typeface="Calibri (MS)"/>
                <a:ea typeface="Calibri (MS)"/>
                <a:cs typeface="Calibri (MS)"/>
                <a:sym typeface="Calibri (MS)"/>
              </a:rPr>
              <a:t>• Truyền thông không dây thời gian thực: Tích hợp giao thức truyền không dây MQTT qua Wi-Fi hoặc ESP-NOW để xây dựng hệ thống cảm biến thị giác IoT hoàn chỉnh.</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0B0F19"/>
            </a:solidFill>
          </p:spPr>
        </p:sp>
      </p:grpSp>
      <p:sp>
        <p:nvSpPr>
          <p:cNvPr name="TextBox 4" id="4"/>
          <p:cNvSpPr txBox="true"/>
          <p:nvPr/>
        </p:nvSpPr>
        <p:spPr>
          <a:xfrm rot="0">
            <a:off x="2562254" y="2516534"/>
            <a:ext cx="13177342" cy="1933575"/>
          </a:xfrm>
          <a:prstGeom prst="rect">
            <a:avLst/>
          </a:prstGeom>
        </p:spPr>
        <p:txBody>
          <a:bodyPr anchor="t" rtlCol="false" tIns="0" lIns="0" bIns="0" rIns="0">
            <a:spAutoFit/>
          </a:bodyPr>
          <a:lstStyle/>
          <a:p>
            <a:pPr algn="l">
              <a:lnSpc>
                <a:spcPts val="3602"/>
              </a:lnSpc>
            </a:pPr>
            <a:r>
              <a:rPr lang="en-US" sz="3002" b="true">
                <a:solidFill>
                  <a:srgbClr val="38BDF8"/>
                </a:solidFill>
                <a:latin typeface="Segoe UI Bold"/>
                <a:ea typeface="Segoe UI Bold"/>
                <a:cs typeface="Segoe UI Bold"/>
                <a:sym typeface="Segoe UI Bold"/>
              </a:rPr>
              <a:t>KẾT LUẬN TỔNG THỂ</a:t>
            </a:r>
          </a:p>
          <a:p>
            <a:pPr algn="l">
              <a:lnSpc>
                <a:spcPts val="2341"/>
              </a:lnSpc>
            </a:pPr>
          </a:p>
          <a:p>
            <a:pPr algn="l">
              <a:lnSpc>
                <a:spcPts val="2341"/>
              </a:lnSpc>
            </a:pPr>
            <a:r>
              <a:rPr lang="en-US" sz="1951">
                <a:solidFill>
                  <a:srgbClr val="F8FAFC"/>
                </a:solidFill>
                <a:latin typeface="Segoe UI"/>
                <a:ea typeface="Segoe UI"/>
                <a:cs typeface="Segoe UI"/>
                <a:sym typeface="Segoe UI"/>
              </a:rPr>
              <a:t>Đề tài đã hoàn thành 100% mục tiêu nghiên cứu và sản phẩm bàn giao theo đề cương:</a:t>
            </a:r>
          </a:p>
          <a:p>
            <a:pPr algn="l">
              <a:lnSpc>
                <a:spcPts val="2341"/>
              </a:lnSpc>
            </a:pPr>
            <a:r>
              <a:rPr lang="en-US" sz="1951">
                <a:solidFill>
                  <a:srgbClr val="F8FAFC"/>
                </a:solidFill>
                <a:latin typeface="Segoe UI"/>
                <a:ea typeface="Segoe UI"/>
                <a:cs typeface="Segoe UI"/>
                <a:sym typeface="Segoe UI"/>
              </a:rPr>
              <a:t>• Triển khai thành công bộ mã hóa TinyCAE INT8 trên phần cứng ESP32-CAM.</a:t>
            </a:r>
          </a:p>
          <a:p>
            <a:pPr algn="l">
              <a:lnSpc>
                <a:spcPts val="2341"/>
              </a:lnSpc>
            </a:pPr>
            <a:r>
              <a:rPr lang="en-US" sz="1951">
                <a:solidFill>
                  <a:srgbClr val="F8FAFC"/>
                </a:solidFill>
                <a:latin typeface="Segoe UI"/>
                <a:ea typeface="Segoe UI"/>
                <a:cs typeface="Segoe UI"/>
                <a:sym typeface="Segoe UI"/>
              </a:rPr>
              <a:t>• Đo đạc thực tế, minh bạch và đối chứng khoa học với JPEG phần mềm khóa Q70.</a:t>
            </a:r>
          </a:p>
          <a:p>
            <a:pPr algn="l">
              <a:lnSpc>
                <a:spcPts val="2341"/>
              </a:lnSpc>
            </a:pPr>
            <a:r>
              <a:rPr lang="en-US" sz="1951">
                <a:solidFill>
                  <a:srgbClr val="F8FAFC"/>
                </a:solidFill>
                <a:latin typeface="Segoe UI"/>
                <a:ea typeface="Segoe UI"/>
                <a:cs typeface="Segoe UI"/>
                <a:sym typeface="Segoe UI"/>
              </a:rPr>
              <a:t>• Phân tích rõ ràng bài toán đánh đổi kỹ thuật (Trade-off) giữa Chất lượng, Kích thước gói và Thời gian tính toán.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DAHXOq-Azss</dc:identifier>
  <dcterms:modified xsi:type="dcterms:W3CDTF">2011-08-01T06:04:30Z</dcterms:modified>
  <cp:revision>1</cp:revision>
  <dc:title>SLIDE_THUYET_TRINH_ESP32_TINYCAE.pptx</dc:title>
</cp:coreProperties>
</file>